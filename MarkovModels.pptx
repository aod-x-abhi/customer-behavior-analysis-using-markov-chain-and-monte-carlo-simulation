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73" r:id="rId6"/>
    <p:sldId id="279" r:id="rId7"/>
    <p:sldId id="259" r:id="rId8"/>
    <p:sldId id="266" r:id="rId9"/>
    <p:sldId id="265" r:id="rId10"/>
    <p:sldId id="271" r:id="rId11"/>
    <p:sldId id="267" r:id="rId12"/>
    <p:sldId id="270" r:id="rId13"/>
    <p:sldId id="274" r:id="rId14"/>
    <p:sldId id="275" r:id="rId15"/>
    <p:sldId id="276" r:id="rId16"/>
    <p:sldId id="277" r:id="rId17"/>
    <p:sldId id="278" r:id="rId18"/>
    <p:sldId id="268" r:id="rId19"/>
    <p:sldId id="26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B37C6E-99C5-9312-9AF2-29492736405F}" v="29" dt="2025-09-05T15:48:36.197"/>
    <p1510:client id="{AF890C37-BA28-3C04-1E23-F1332190C289}" v="54" dt="2025-09-05T15:51:38.0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840528"/>
            <a:ext cx="9144000" cy="2617244"/>
          </a:xfrm>
        </p:spPr>
        <p:txBody>
          <a:bodyPr>
            <a:normAutofit/>
          </a:bodyPr>
          <a:lstStyle/>
          <a:p>
            <a:r>
              <a:rPr lang="en-US" b="1" i="1">
                <a:latin typeface="Times New Roman"/>
                <a:ea typeface="+mj-lt"/>
                <a:cs typeface="+mj-lt"/>
              </a:rPr>
              <a:t>Customer Behavior Analysis &amp; Simulation with Markov Models</a:t>
            </a:r>
            <a:endParaRPr lang="en-US" b="1">
              <a:latin typeface="Times New Roman"/>
            </a:endParaRPr>
          </a:p>
        </p:txBody>
      </p:sp>
      <p:sp>
        <p:nvSpPr>
          <p:cNvPr id="3" name="Subtitle 2"/>
          <p:cNvSpPr>
            <a:spLocks noGrp="1"/>
          </p:cNvSpPr>
          <p:nvPr>
            <p:ph type="subTitle" idx="1"/>
          </p:nvPr>
        </p:nvSpPr>
        <p:spPr>
          <a:xfrm>
            <a:off x="1524000" y="3736201"/>
            <a:ext cx="9144000" cy="2846558"/>
          </a:xfrm>
        </p:spPr>
        <p:txBody>
          <a:bodyPr vert="horz" lIns="91440" tIns="45720" rIns="91440" bIns="45720" rtlCol="0" anchor="t">
            <a:normAutofit fontScale="92500" lnSpcReduction="10000"/>
          </a:bodyPr>
          <a:lstStyle/>
          <a:p>
            <a:r>
              <a:rPr lang="en-US" i="1">
                <a:latin typeface="Georgia Pro"/>
              </a:rPr>
              <a:t>C-14</a:t>
            </a:r>
          </a:p>
          <a:p>
            <a:endParaRPr lang="en-US" i="1">
              <a:solidFill>
                <a:schemeClr val="bg1">
                  <a:lumMod val="65000"/>
                </a:schemeClr>
              </a:solidFill>
              <a:latin typeface="Georgia Pro"/>
            </a:endParaRPr>
          </a:p>
          <a:p>
            <a:endParaRPr lang="en-US" i="1">
              <a:solidFill>
                <a:schemeClr val="bg1">
                  <a:lumMod val="65000"/>
                </a:schemeClr>
              </a:solidFill>
              <a:latin typeface="Georgia Pro"/>
              <a:cs typeface="Times New Roman"/>
            </a:endParaRPr>
          </a:p>
          <a:p>
            <a:r>
              <a:rPr lang="en-US" i="1">
                <a:solidFill>
                  <a:schemeClr val="bg1">
                    <a:lumMod val="49000"/>
                  </a:schemeClr>
                </a:solidFill>
                <a:latin typeface="Times New Roman"/>
                <a:cs typeface="Times New Roman"/>
              </a:rPr>
              <a:t>Abhishek Pandey</a:t>
            </a:r>
          </a:p>
          <a:p>
            <a:r>
              <a:rPr lang="en-US" i="1">
                <a:solidFill>
                  <a:schemeClr val="bg1">
                    <a:lumMod val="49000"/>
                  </a:schemeClr>
                </a:solidFill>
                <a:latin typeface="Times New Roman"/>
                <a:cs typeface="Times New Roman"/>
              </a:rPr>
              <a:t>Aadith Krishna</a:t>
            </a:r>
          </a:p>
          <a:p>
            <a:r>
              <a:rPr lang="en-US" i="1">
                <a:solidFill>
                  <a:schemeClr val="bg1">
                    <a:lumMod val="49000"/>
                  </a:schemeClr>
                </a:solidFill>
                <a:latin typeface="Times New Roman"/>
                <a:cs typeface="Times New Roman"/>
              </a:rPr>
              <a:t>Aditya Santosh</a:t>
            </a:r>
          </a:p>
          <a:p>
            <a:r>
              <a:rPr lang="en-US" i="1">
                <a:solidFill>
                  <a:schemeClr val="bg1">
                    <a:lumMod val="49000"/>
                  </a:schemeClr>
                </a:solidFill>
                <a:latin typeface="Times New Roman"/>
                <a:cs typeface="Times New Roman"/>
              </a:rPr>
              <a:t>Surya Narayan S</a:t>
            </a:r>
          </a:p>
        </p:txBody>
      </p:sp>
      <p:cxnSp>
        <p:nvCxnSpPr>
          <p:cNvPr id="4" name="Straight Arrow Connector 3">
            <a:extLst>
              <a:ext uri="{FF2B5EF4-FFF2-40B4-BE49-F238E27FC236}">
                <a16:creationId xmlns:a16="http://schemas.microsoft.com/office/drawing/2014/main" id="{A06F33E3-F824-1D9B-910B-EC5835B06E3A}"/>
              </a:ext>
            </a:extLst>
          </p:cNvPr>
          <p:cNvCxnSpPr/>
          <p:nvPr/>
        </p:nvCxnSpPr>
        <p:spPr>
          <a:xfrm>
            <a:off x="1261650" y="3438346"/>
            <a:ext cx="9664693" cy="27431"/>
          </a:xfrm>
          <a:prstGeom prst="straightConnector1">
            <a:avLst/>
          </a:prstGeom>
        </p:spPr>
        <p:style>
          <a:lnRef idx="3">
            <a:schemeClr val="dk1"/>
          </a:lnRef>
          <a:fillRef idx="0">
            <a:schemeClr val="dk1"/>
          </a:fillRef>
          <a:effectRef idx="2">
            <a:schemeClr val="dk1"/>
          </a:effectRef>
          <a:fontRef idx="minor">
            <a:schemeClr val="tx1"/>
          </a:fontRef>
        </p:style>
      </p:cxnSp>
      <p:sp>
        <p:nvSpPr>
          <p:cNvPr id="5" name="Rectangle 4">
            <a:extLst>
              <a:ext uri="{FF2B5EF4-FFF2-40B4-BE49-F238E27FC236}">
                <a16:creationId xmlns:a16="http://schemas.microsoft.com/office/drawing/2014/main" id="{5DEFA60B-6DD1-D53E-AB73-0F884833F6FB}"/>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2AF77-D591-5AFC-17B4-F3BFC31A9702}"/>
              </a:ext>
            </a:extLst>
          </p:cNvPr>
          <p:cNvSpPr>
            <a:spLocks noGrp="1"/>
          </p:cNvSpPr>
          <p:nvPr>
            <p:ph type="title"/>
          </p:nvPr>
        </p:nvSpPr>
        <p:spPr/>
        <p:txBody>
          <a:bodyPr/>
          <a:lstStyle/>
          <a:p>
            <a:r>
              <a:rPr lang="en-US" b="1" i="1">
                <a:latin typeface="Times New Roman"/>
                <a:cs typeface="Times New Roman"/>
              </a:rPr>
              <a:t>Introduction</a:t>
            </a:r>
          </a:p>
        </p:txBody>
      </p:sp>
      <p:sp>
        <p:nvSpPr>
          <p:cNvPr id="3" name="Content Placeholder 2">
            <a:extLst>
              <a:ext uri="{FF2B5EF4-FFF2-40B4-BE49-F238E27FC236}">
                <a16:creationId xmlns:a16="http://schemas.microsoft.com/office/drawing/2014/main" id="{0B016E9E-0268-D806-22F3-5EA2CA9B694D}"/>
              </a:ext>
            </a:extLst>
          </p:cNvPr>
          <p:cNvSpPr>
            <a:spLocks noGrp="1"/>
          </p:cNvSpPr>
          <p:nvPr>
            <p:ph idx="1"/>
          </p:nvPr>
        </p:nvSpPr>
        <p:spPr/>
        <p:txBody>
          <a:bodyPr vert="horz" lIns="91440" tIns="45720" rIns="91440" bIns="45720" rtlCol="0" anchor="t">
            <a:normAutofit/>
          </a:bodyPr>
          <a:lstStyle/>
          <a:p>
            <a:pPr algn="just"/>
            <a:r>
              <a:rPr lang="en-US" sz="2200" i="1" dirty="0">
                <a:latin typeface="Times New Roman"/>
                <a:ea typeface="+mn-lt"/>
                <a:cs typeface="+mn-lt"/>
              </a:rPr>
              <a:t>The retail environment is a complex system driven by the aggregate of individual customer decisions. </a:t>
            </a:r>
            <a:endParaRPr lang="en-US" sz="2200" dirty="0">
              <a:latin typeface="Times New Roman"/>
              <a:ea typeface="+mn-lt"/>
              <a:cs typeface="+mn-lt"/>
            </a:endParaRPr>
          </a:p>
          <a:p>
            <a:pPr algn="just"/>
            <a:r>
              <a:rPr lang="en-US" sz="2200" i="1" dirty="0">
                <a:latin typeface="Times New Roman"/>
                <a:ea typeface="+mn-lt"/>
                <a:cs typeface="+mn-lt"/>
              </a:rPr>
              <a:t> While individual paths may appear random, we hypothesize their collective behavior can be described by a stochastic process.</a:t>
            </a:r>
            <a:endParaRPr lang="en-US" sz="2200" dirty="0">
              <a:latin typeface="Times New Roman"/>
              <a:ea typeface="+mn-lt"/>
              <a:cs typeface="+mn-lt"/>
            </a:endParaRPr>
          </a:p>
          <a:p>
            <a:pPr algn="just"/>
            <a:r>
              <a:rPr lang="en-US" sz="2200" i="1" dirty="0">
                <a:latin typeface="Times New Roman"/>
                <a:cs typeface="Times New Roman"/>
              </a:rPr>
              <a:t>Markov Models provide a robust mathematical framework to model sequential customer actions, capturing the probabilistic transitions between different behavioral states.</a:t>
            </a:r>
          </a:p>
          <a:p>
            <a:pPr algn="just"/>
            <a:r>
              <a:rPr lang="en-US" sz="2200" i="1" dirty="0">
                <a:latin typeface="Times New Roman"/>
                <a:cs typeface="Times New Roman"/>
              </a:rPr>
              <a:t>These models reveal not only the frequency of customer actions but also the likelihood of moving from one action to another, delivering actionable insights into user engagement patterns and conversion pathways.</a:t>
            </a:r>
          </a:p>
          <a:p>
            <a:endParaRPr lang="en-US" sz="2500" i="1" dirty="0">
              <a:latin typeface="Times New Roman"/>
              <a:cs typeface="Times New Roman"/>
            </a:endParaRPr>
          </a:p>
        </p:txBody>
      </p:sp>
      <p:sp>
        <p:nvSpPr>
          <p:cNvPr id="5" name="Rectangle 4">
            <a:extLst>
              <a:ext uri="{FF2B5EF4-FFF2-40B4-BE49-F238E27FC236}">
                <a16:creationId xmlns:a16="http://schemas.microsoft.com/office/drawing/2014/main" id="{1D1D1036-27FB-DE8F-B349-5A028D5D1CF6}"/>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904839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C4450-2CFD-9B68-7A48-A95EB7792B30}"/>
              </a:ext>
            </a:extLst>
          </p:cNvPr>
          <p:cNvSpPr>
            <a:spLocks noGrp="1"/>
          </p:cNvSpPr>
          <p:nvPr>
            <p:ph type="title"/>
          </p:nvPr>
        </p:nvSpPr>
        <p:spPr/>
        <p:txBody>
          <a:bodyPr/>
          <a:lstStyle/>
          <a:p>
            <a:r>
              <a:rPr lang="en-US" b="1" i="1">
                <a:latin typeface="Times New Roman"/>
                <a:cs typeface="Times New Roman"/>
              </a:rPr>
              <a:t>Problem Statement</a:t>
            </a:r>
          </a:p>
        </p:txBody>
      </p:sp>
      <p:sp>
        <p:nvSpPr>
          <p:cNvPr id="3" name="Content Placeholder 2">
            <a:extLst>
              <a:ext uri="{FF2B5EF4-FFF2-40B4-BE49-F238E27FC236}">
                <a16:creationId xmlns:a16="http://schemas.microsoft.com/office/drawing/2014/main" id="{FDFA28DF-4A78-740E-6FF2-823366D9D6A4}"/>
              </a:ext>
            </a:extLst>
          </p:cNvPr>
          <p:cNvSpPr>
            <a:spLocks noGrp="1"/>
          </p:cNvSpPr>
          <p:nvPr>
            <p:ph idx="1"/>
          </p:nvPr>
        </p:nvSpPr>
        <p:spPr>
          <a:xfrm>
            <a:off x="838200" y="1982507"/>
            <a:ext cx="10515600" cy="4351338"/>
          </a:xfrm>
        </p:spPr>
        <p:txBody>
          <a:bodyPr vert="horz" lIns="91440" tIns="45720" rIns="91440" bIns="45720" rtlCol="0" anchor="t">
            <a:normAutofit/>
          </a:bodyPr>
          <a:lstStyle/>
          <a:p>
            <a:pPr algn="just"/>
            <a:r>
              <a:rPr lang="en-US" sz="2200" i="1" dirty="0">
                <a:latin typeface="Times New Roman"/>
                <a:ea typeface="+mn-lt"/>
                <a:cs typeface="+mn-lt"/>
              </a:rPr>
              <a:t>The movement of customers in a supermarket, while seemingly random, can be modeled as a probabilistic process. This project analyzes raw, timestamped customer location data to construct a first-order Markov chain that quantifies the probabilities of transitions between different store sections. </a:t>
            </a:r>
            <a:endParaRPr lang="en-US" sz="2200">
              <a:latin typeface="Times New Roman"/>
              <a:cs typeface="Times New Roman"/>
            </a:endParaRPr>
          </a:p>
          <a:p>
            <a:pPr algn="just"/>
            <a:r>
              <a:rPr lang="en-US" sz="2200" i="1" dirty="0">
                <a:latin typeface="Times New Roman"/>
                <a:ea typeface="+mn-lt"/>
                <a:cs typeface="+mn-lt"/>
              </a:rPr>
              <a:t>Based on this model, a simulation is developed to reproduce and visualize aggregate customer flow, enabling the analysis of patterns and behaviors across store sections.</a:t>
            </a:r>
            <a:endParaRPr lang="en-US" sz="2200" dirty="0">
              <a:latin typeface="Times New Roman"/>
              <a:cs typeface="Times New Roman"/>
            </a:endParaRPr>
          </a:p>
          <a:p>
            <a:pPr algn="just"/>
            <a:endParaRPr lang="en-US" sz="2500" i="1" dirty="0">
              <a:latin typeface="Times New Roman"/>
              <a:cs typeface="Times New Roman"/>
            </a:endParaRPr>
          </a:p>
          <a:p>
            <a:endParaRPr lang="en-US" i="1" dirty="0">
              <a:latin typeface="Times New Roman"/>
              <a:cs typeface="Times New Roman"/>
            </a:endParaRPr>
          </a:p>
        </p:txBody>
      </p:sp>
      <p:sp>
        <p:nvSpPr>
          <p:cNvPr id="6" name="Rectangle 5">
            <a:extLst>
              <a:ext uri="{FF2B5EF4-FFF2-40B4-BE49-F238E27FC236}">
                <a16:creationId xmlns:a16="http://schemas.microsoft.com/office/drawing/2014/main" id="{704B8283-69AE-366C-326D-6EB735ECFAB5}"/>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27556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DBFED-D2F5-7592-1E7D-A7008559D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667C5-7D04-30AC-98AA-55D73808456D}"/>
              </a:ext>
            </a:extLst>
          </p:cNvPr>
          <p:cNvSpPr>
            <a:spLocks noGrp="1"/>
          </p:cNvSpPr>
          <p:nvPr>
            <p:ph type="title"/>
          </p:nvPr>
        </p:nvSpPr>
        <p:spPr>
          <a:xfrm>
            <a:off x="737347" y="138706"/>
            <a:ext cx="2853847" cy="1315124"/>
          </a:xfrm>
        </p:spPr>
        <p:txBody>
          <a:bodyPr/>
          <a:lstStyle/>
          <a:p>
            <a:r>
              <a:rPr lang="en-US" b="1" i="1">
                <a:latin typeface="Times New Roman"/>
                <a:cs typeface="Times New Roman"/>
              </a:rPr>
              <a:t>Literature</a:t>
            </a:r>
          </a:p>
        </p:txBody>
      </p:sp>
      <p:graphicFrame>
        <p:nvGraphicFramePr>
          <p:cNvPr id="8" name="Content Placeholder 7">
            <a:extLst>
              <a:ext uri="{FF2B5EF4-FFF2-40B4-BE49-F238E27FC236}">
                <a16:creationId xmlns:a16="http://schemas.microsoft.com/office/drawing/2014/main" id="{C3469B7B-E5FC-423F-E4F4-5AF85A3529B1}"/>
              </a:ext>
            </a:extLst>
          </p:cNvPr>
          <p:cNvGraphicFramePr>
            <a:graphicFrameLocks noGrp="1"/>
          </p:cNvGraphicFramePr>
          <p:nvPr>
            <p:ph idx="1"/>
            <p:extLst>
              <p:ext uri="{D42A27DB-BD31-4B8C-83A1-F6EECF244321}">
                <p14:modId xmlns:p14="http://schemas.microsoft.com/office/powerpoint/2010/main" val="1919228727"/>
              </p:ext>
            </p:extLst>
          </p:nvPr>
        </p:nvGraphicFramePr>
        <p:xfrm>
          <a:off x="738514" y="1170783"/>
          <a:ext cx="10851926" cy="5156596"/>
        </p:xfrm>
        <a:graphic>
          <a:graphicData uri="http://schemas.openxmlformats.org/drawingml/2006/table">
            <a:tbl>
              <a:tblPr firstRow="1" bandRow="1">
                <a:tableStyleId>{5940675A-B579-460E-94D1-54222C63F5DA}</a:tableStyleId>
              </a:tblPr>
              <a:tblGrid>
                <a:gridCol w="3617309">
                  <a:extLst>
                    <a:ext uri="{9D8B030D-6E8A-4147-A177-3AD203B41FA5}">
                      <a16:colId xmlns:a16="http://schemas.microsoft.com/office/drawing/2014/main" val="3791515998"/>
                    </a:ext>
                  </a:extLst>
                </a:gridCol>
                <a:gridCol w="2641182">
                  <a:extLst>
                    <a:ext uri="{9D8B030D-6E8A-4147-A177-3AD203B41FA5}">
                      <a16:colId xmlns:a16="http://schemas.microsoft.com/office/drawing/2014/main" val="2288937407"/>
                    </a:ext>
                  </a:extLst>
                </a:gridCol>
                <a:gridCol w="4593435">
                  <a:extLst>
                    <a:ext uri="{9D8B030D-6E8A-4147-A177-3AD203B41FA5}">
                      <a16:colId xmlns:a16="http://schemas.microsoft.com/office/drawing/2014/main" val="2016318003"/>
                    </a:ext>
                  </a:extLst>
                </a:gridCol>
              </a:tblGrid>
              <a:tr h="440569">
                <a:tc>
                  <a:txBody>
                    <a:bodyPr/>
                    <a:lstStyle/>
                    <a:p>
                      <a:pPr algn="just"/>
                      <a:r>
                        <a:rPr lang="en-US" sz="2400" b="1" i="1">
                          <a:latin typeface="Times New Roman"/>
                        </a:rPr>
                        <a:t>Title</a:t>
                      </a:r>
                    </a:p>
                  </a:txBody>
                  <a:tcPr>
                    <a:solidFill>
                      <a:schemeClr val="bg1">
                        <a:lumMod val="95000"/>
                      </a:schemeClr>
                    </a:solidFill>
                  </a:tcPr>
                </a:tc>
                <a:tc>
                  <a:txBody>
                    <a:bodyPr/>
                    <a:lstStyle/>
                    <a:p>
                      <a:pPr algn="just"/>
                      <a:r>
                        <a:rPr lang="en-US" sz="2400" b="1" i="1">
                          <a:latin typeface="Times New Roman"/>
                        </a:rPr>
                        <a:t>Authors</a:t>
                      </a:r>
                    </a:p>
                  </a:txBody>
                  <a:tcPr>
                    <a:solidFill>
                      <a:schemeClr val="bg1">
                        <a:lumMod val="95000"/>
                      </a:schemeClr>
                    </a:solidFill>
                  </a:tcPr>
                </a:tc>
                <a:tc>
                  <a:txBody>
                    <a:bodyPr/>
                    <a:lstStyle/>
                    <a:p>
                      <a:pPr algn="just"/>
                      <a:r>
                        <a:rPr lang="en-US" sz="2400" b="1" i="1">
                          <a:latin typeface="Times New Roman"/>
                        </a:rPr>
                        <a:t>Observations</a:t>
                      </a:r>
                    </a:p>
                  </a:txBody>
                  <a:tcPr>
                    <a:solidFill>
                      <a:schemeClr val="bg1">
                        <a:lumMod val="95000"/>
                      </a:schemeClr>
                    </a:solidFill>
                  </a:tcPr>
                </a:tc>
                <a:extLst>
                  <a:ext uri="{0D108BD9-81ED-4DB2-BD59-A6C34878D82A}">
                    <a16:rowId xmlns:a16="http://schemas.microsoft.com/office/drawing/2014/main" val="4013511322"/>
                  </a:ext>
                </a:extLst>
              </a:tr>
              <a:tr h="2523256">
                <a:tc>
                  <a:txBody>
                    <a:bodyPr/>
                    <a:lstStyle/>
                    <a:p>
                      <a:pPr lvl="0" algn="just">
                        <a:buNone/>
                      </a:pPr>
                      <a:r>
                        <a:rPr lang="en-US" sz="2200" i="1" u="none" strike="noStrike" noProof="0">
                          <a:latin typeface="Times New Roman"/>
                        </a:rPr>
                        <a:t>Modeling Customer Behavior with Markov Chains (2023)</a:t>
                      </a:r>
                    </a:p>
                  </a:txBody>
                  <a:tcPr>
                    <a:solidFill>
                      <a:schemeClr val="bg1">
                        <a:lumMod val="95000"/>
                      </a:schemeClr>
                    </a:solidFill>
                  </a:tcPr>
                </a:tc>
                <a:tc>
                  <a:txBody>
                    <a:bodyPr/>
                    <a:lstStyle/>
                    <a:p>
                      <a:pPr lvl="0" algn="just">
                        <a:lnSpc>
                          <a:spcPct val="100000"/>
                        </a:lnSpc>
                        <a:spcBef>
                          <a:spcPts val="0"/>
                        </a:spcBef>
                        <a:spcAft>
                          <a:spcPts val="0"/>
                        </a:spcAft>
                        <a:buNone/>
                      </a:pPr>
                      <a:r>
                        <a:rPr lang="en-US" sz="2200" i="1" u="none" strike="noStrike" noProof="0" err="1">
                          <a:solidFill>
                            <a:srgbClr val="000000"/>
                          </a:solidFill>
                          <a:latin typeface="Times New Roman"/>
                        </a:rPr>
                        <a:t>Gudimella</a:t>
                      </a:r>
                      <a:endParaRPr lang="en-US" sz="2200" i="1" u="none" strike="noStrike" noProof="0">
                        <a:solidFill>
                          <a:srgbClr val="000000"/>
                        </a:solidFill>
                        <a:latin typeface="Times New Roman"/>
                      </a:endParaRPr>
                    </a:p>
                    <a:p>
                      <a:pPr lvl="0" algn="just">
                        <a:buNone/>
                      </a:pPr>
                      <a:endParaRPr lang="en-US" sz="2200" i="1">
                        <a:latin typeface="Times New Roman"/>
                      </a:endParaRPr>
                    </a:p>
                  </a:txBody>
                  <a:tcPr>
                    <a:solidFill>
                      <a:schemeClr val="bg1">
                        <a:lumMod val="95000"/>
                      </a:schemeClr>
                    </a:solidFill>
                  </a:tcPr>
                </a:tc>
                <a:tc>
                  <a:txBody>
                    <a:bodyPr/>
                    <a:lstStyle/>
                    <a:p>
                      <a:pPr lvl="0" algn="just">
                        <a:buNone/>
                      </a:pPr>
                      <a:r>
                        <a:rPr lang="en-US" sz="2200" i="1" u="none" strike="noStrike" noProof="0">
                          <a:latin typeface="Times New Roman"/>
                        </a:rPr>
                        <a:t>Introduces discrete-time Markov chains to model customer actions like browsing, adding to cart, purchasing, and churn. Focuses on segmentation, churn prediction, and personalized marketing using transition and steady-state analysis.</a:t>
                      </a:r>
                      <a:endParaRPr lang="en-US" sz="2200" i="1">
                        <a:latin typeface="Times New Roman"/>
                      </a:endParaRPr>
                    </a:p>
                  </a:txBody>
                  <a:tcPr>
                    <a:solidFill>
                      <a:schemeClr val="bg1">
                        <a:lumMod val="95000"/>
                      </a:schemeClr>
                    </a:solidFill>
                  </a:tcPr>
                </a:tc>
                <a:extLst>
                  <a:ext uri="{0D108BD9-81ED-4DB2-BD59-A6C34878D82A}">
                    <a16:rowId xmlns:a16="http://schemas.microsoft.com/office/drawing/2014/main" val="3244069221"/>
                  </a:ext>
                </a:extLst>
              </a:tr>
              <a:tr h="2176140">
                <a:tc>
                  <a:txBody>
                    <a:bodyPr/>
                    <a:lstStyle/>
                    <a:p>
                      <a:pPr lvl="0" algn="just">
                        <a:buNone/>
                      </a:pPr>
                      <a:r>
                        <a:rPr lang="en-US" sz="2200" i="1" u="none" strike="noStrike" noProof="0">
                          <a:latin typeface="Times New Roman"/>
                        </a:rPr>
                        <a:t>Customer Behavior Hidden Markov Model (2022)</a:t>
                      </a:r>
                      <a:endParaRPr lang="en-US" sz="2200" i="1">
                        <a:latin typeface="Times New Roman"/>
                      </a:endParaRPr>
                    </a:p>
                  </a:txBody>
                  <a:tcPr>
                    <a:solidFill>
                      <a:schemeClr val="bg1">
                        <a:lumMod val="95000"/>
                      </a:schemeClr>
                    </a:solidFill>
                  </a:tcPr>
                </a:tc>
                <a:tc>
                  <a:txBody>
                    <a:bodyPr/>
                    <a:lstStyle/>
                    <a:p>
                      <a:pPr lvl="0" algn="just">
                        <a:buNone/>
                      </a:pPr>
                      <a:r>
                        <a:rPr lang="en-US" sz="2200" i="1" u="none" strike="noStrike" noProof="0" err="1">
                          <a:solidFill>
                            <a:srgbClr val="000000"/>
                          </a:solidFill>
                          <a:latin typeface="Times New Roman"/>
                        </a:rPr>
                        <a:t>Jandera</a:t>
                      </a:r>
                      <a:r>
                        <a:rPr lang="en-US" sz="2200" i="1" u="none" strike="noStrike" noProof="0">
                          <a:solidFill>
                            <a:srgbClr val="000000"/>
                          </a:solidFill>
                          <a:latin typeface="Times New Roman"/>
                        </a:rPr>
                        <a:t> &amp; </a:t>
                      </a:r>
                      <a:r>
                        <a:rPr lang="en-US" sz="2200" i="1" u="none" strike="noStrike" noProof="0" err="1">
                          <a:solidFill>
                            <a:srgbClr val="000000"/>
                          </a:solidFill>
                          <a:latin typeface="Times New Roman"/>
                        </a:rPr>
                        <a:t>Skovranek</a:t>
                      </a:r>
                      <a:endParaRPr lang="en-US" sz="2200" i="1">
                        <a:latin typeface="Times New Roman"/>
                      </a:endParaRPr>
                    </a:p>
                  </a:txBody>
                  <a:tcPr>
                    <a:solidFill>
                      <a:schemeClr val="bg1">
                        <a:lumMod val="95000"/>
                      </a:schemeClr>
                    </a:solidFill>
                  </a:tcPr>
                </a:tc>
                <a:tc>
                  <a:txBody>
                    <a:bodyPr/>
                    <a:lstStyle/>
                    <a:p>
                      <a:pPr lvl="0" algn="just">
                        <a:buNone/>
                      </a:pPr>
                      <a:r>
                        <a:rPr lang="en-US" sz="2200" i="1" u="none" strike="noStrike" noProof="0">
                          <a:latin typeface="Times New Roman"/>
                        </a:rPr>
                        <a:t>Proposes a Hidden Markov Model tailored for e-commerce to predict customer behavior and forecast purchases by modeling dynamic state transitions, improving prediction accuracy.</a:t>
                      </a:r>
                      <a:endParaRPr lang="en-US" sz="2200" i="1">
                        <a:latin typeface="Times New Roman"/>
                      </a:endParaRPr>
                    </a:p>
                  </a:txBody>
                  <a:tcPr>
                    <a:solidFill>
                      <a:schemeClr val="bg1">
                        <a:lumMod val="95000"/>
                      </a:schemeClr>
                    </a:solidFill>
                  </a:tcPr>
                </a:tc>
                <a:extLst>
                  <a:ext uri="{0D108BD9-81ED-4DB2-BD59-A6C34878D82A}">
                    <a16:rowId xmlns:a16="http://schemas.microsoft.com/office/drawing/2014/main" val="1856209523"/>
                  </a:ext>
                </a:extLst>
              </a:tr>
            </a:tbl>
          </a:graphicData>
        </a:graphic>
      </p:graphicFrame>
      <p:sp>
        <p:nvSpPr>
          <p:cNvPr id="4" name="Rectangle 3">
            <a:extLst>
              <a:ext uri="{FF2B5EF4-FFF2-40B4-BE49-F238E27FC236}">
                <a16:creationId xmlns:a16="http://schemas.microsoft.com/office/drawing/2014/main" id="{36A1EE50-1A35-A5CD-ED08-5AB8923E977C}"/>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52953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CA12F-11F9-88EF-AF54-7F2958636B98}"/>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605552DB-2A71-5CFE-A7C4-EA7252C4A7A5}"/>
              </a:ext>
            </a:extLst>
          </p:cNvPr>
          <p:cNvGraphicFramePr>
            <a:graphicFrameLocks noGrp="1"/>
          </p:cNvGraphicFramePr>
          <p:nvPr>
            <p:ph idx="1"/>
            <p:extLst>
              <p:ext uri="{D42A27DB-BD31-4B8C-83A1-F6EECF244321}">
                <p14:modId xmlns:p14="http://schemas.microsoft.com/office/powerpoint/2010/main" val="922522905"/>
              </p:ext>
            </p:extLst>
          </p:nvPr>
        </p:nvGraphicFramePr>
        <p:xfrm>
          <a:off x="738514" y="1170783"/>
          <a:ext cx="10851923" cy="3230880"/>
        </p:xfrm>
        <a:graphic>
          <a:graphicData uri="http://schemas.openxmlformats.org/drawingml/2006/table">
            <a:tbl>
              <a:tblPr firstRow="1" bandRow="1">
                <a:tableStyleId>{5940675A-B579-460E-94D1-54222C63F5DA}</a:tableStyleId>
              </a:tblPr>
              <a:tblGrid>
                <a:gridCol w="3617308">
                  <a:extLst>
                    <a:ext uri="{9D8B030D-6E8A-4147-A177-3AD203B41FA5}">
                      <a16:colId xmlns:a16="http://schemas.microsoft.com/office/drawing/2014/main" val="3791515998"/>
                    </a:ext>
                  </a:extLst>
                </a:gridCol>
                <a:gridCol w="2187222">
                  <a:extLst>
                    <a:ext uri="{9D8B030D-6E8A-4147-A177-3AD203B41FA5}">
                      <a16:colId xmlns:a16="http://schemas.microsoft.com/office/drawing/2014/main" val="2288937407"/>
                    </a:ext>
                  </a:extLst>
                </a:gridCol>
                <a:gridCol w="5047393">
                  <a:extLst>
                    <a:ext uri="{9D8B030D-6E8A-4147-A177-3AD203B41FA5}">
                      <a16:colId xmlns:a16="http://schemas.microsoft.com/office/drawing/2014/main" val="2016318003"/>
                    </a:ext>
                  </a:extLst>
                </a:gridCol>
              </a:tblGrid>
              <a:tr h="440569">
                <a:tc>
                  <a:txBody>
                    <a:bodyPr/>
                    <a:lstStyle/>
                    <a:p>
                      <a:pPr algn="just"/>
                      <a:r>
                        <a:rPr lang="en-US" sz="2400" b="1" i="1">
                          <a:latin typeface="Times New Roman"/>
                        </a:rPr>
                        <a:t>Title</a:t>
                      </a:r>
                    </a:p>
                  </a:txBody>
                  <a:tcPr>
                    <a:solidFill>
                      <a:schemeClr val="bg1">
                        <a:lumMod val="95000"/>
                      </a:schemeClr>
                    </a:solidFill>
                  </a:tcPr>
                </a:tc>
                <a:tc>
                  <a:txBody>
                    <a:bodyPr/>
                    <a:lstStyle/>
                    <a:p>
                      <a:pPr algn="just"/>
                      <a:r>
                        <a:rPr lang="en-US" sz="2400" b="1" i="1">
                          <a:latin typeface="Times New Roman"/>
                        </a:rPr>
                        <a:t>Authors</a:t>
                      </a:r>
                    </a:p>
                  </a:txBody>
                  <a:tcPr>
                    <a:solidFill>
                      <a:schemeClr val="bg1">
                        <a:lumMod val="95000"/>
                      </a:schemeClr>
                    </a:solidFill>
                  </a:tcPr>
                </a:tc>
                <a:tc>
                  <a:txBody>
                    <a:bodyPr/>
                    <a:lstStyle/>
                    <a:p>
                      <a:pPr algn="just"/>
                      <a:r>
                        <a:rPr lang="en-US" sz="2400" b="1" i="1">
                          <a:latin typeface="Times New Roman"/>
                        </a:rPr>
                        <a:t>Observations</a:t>
                      </a:r>
                    </a:p>
                  </a:txBody>
                  <a:tcPr>
                    <a:solidFill>
                      <a:schemeClr val="bg1">
                        <a:lumMod val="95000"/>
                      </a:schemeClr>
                    </a:solidFill>
                  </a:tcPr>
                </a:tc>
                <a:extLst>
                  <a:ext uri="{0D108BD9-81ED-4DB2-BD59-A6C34878D82A}">
                    <a16:rowId xmlns:a16="http://schemas.microsoft.com/office/drawing/2014/main" val="4013511322"/>
                  </a:ext>
                </a:extLst>
              </a:tr>
              <a:tr h="2523256">
                <a:tc>
                  <a:txBody>
                    <a:bodyPr/>
                    <a:lstStyle/>
                    <a:p>
                      <a:pPr lvl="0" algn="just">
                        <a:buNone/>
                      </a:pPr>
                      <a:r>
                        <a:rPr lang="en-US" sz="2200" b="0" i="1" u="none" strike="noStrike" baseline="0" noProof="0">
                          <a:solidFill>
                            <a:srgbClr val="000000"/>
                          </a:solidFill>
                          <a:latin typeface="Times New Roman"/>
                        </a:rPr>
                        <a:t>A Markov network approach for reproducing purchase behaviors observed in convenience stores.</a:t>
                      </a:r>
                    </a:p>
                  </a:txBody>
                  <a:tcPr>
                    <a:solidFill>
                      <a:schemeClr val="bg1">
                        <a:lumMod val="95000"/>
                      </a:schemeClr>
                    </a:solidFill>
                  </a:tcPr>
                </a:tc>
                <a:tc>
                  <a:txBody>
                    <a:bodyPr/>
                    <a:lstStyle/>
                    <a:p>
                      <a:pPr marL="0" lvl="0" indent="0" algn="just">
                        <a:lnSpc>
                          <a:spcPct val="100000"/>
                        </a:lnSpc>
                        <a:buNone/>
                      </a:pPr>
                      <a:r>
                        <a:rPr lang="en-US" sz="2200" b="0" i="1" u="none" strike="noStrike" baseline="0" noProof="0">
                          <a:solidFill>
                            <a:srgbClr val="000000"/>
                          </a:solidFill>
                          <a:latin typeface="Times New Roman"/>
                        </a:rPr>
                        <a:t>Dan Johansson, </a:t>
                      </a:r>
                      <a:endParaRPr lang="en-US"/>
                    </a:p>
                    <a:p>
                      <a:pPr marL="0" lvl="0" indent="0" algn="just">
                        <a:lnSpc>
                          <a:spcPct val="100000"/>
                        </a:lnSpc>
                        <a:buNone/>
                      </a:pPr>
                      <a:r>
                        <a:rPr lang="en-US" sz="2200" b="0" i="1" u="none" strike="noStrike" baseline="0" noProof="0">
                          <a:solidFill>
                            <a:srgbClr val="000000"/>
                          </a:solidFill>
                          <a:latin typeface="Times New Roman"/>
                        </a:rPr>
                        <a:t>Hideki Takayasu </a:t>
                      </a:r>
                      <a:endParaRPr lang="en-US"/>
                    </a:p>
                    <a:p>
                      <a:pPr marL="0" lvl="0" indent="0" algn="just">
                        <a:lnSpc>
                          <a:spcPct val="100000"/>
                        </a:lnSpc>
                        <a:buNone/>
                      </a:pPr>
                      <a:r>
                        <a:rPr lang="en-US" sz="2200" b="0" i="1" u="none" strike="noStrike" baseline="0" noProof="0">
                          <a:solidFill>
                            <a:srgbClr val="000000"/>
                          </a:solidFill>
                          <a:latin typeface="Times New Roman"/>
                        </a:rPr>
                        <a:t>&amp; </a:t>
                      </a:r>
                      <a:endParaRPr lang="en-US"/>
                    </a:p>
                    <a:p>
                      <a:pPr marL="0" lvl="0" indent="0" algn="just">
                        <a:lnSpc>
                          <a:spcPct val="100000"/>
                        </a:lnSpc>
                        <a:buNone/>
                      </a:pPr>
                      <a:r>
                        <a:rPr lang="en-US" sz="2200" b="0" i="1" u="none" strike="noStrike" baseline="0" noProof="0">
                          <a:solidFill>
                            <a:srgbClr val="000000"/>
                          </a:solidFill>
                          <a:latin typeface="Times New Roman"/>
                        </a:rPr>
                        <a:t>Misako Takayasu</a:t>
                      </a:r>
                      <a:endParaRPr lang="en-US"/>
                    </a:p>
                    <a:p>
                      <a:pPr lvl="0" algn="just">
                        <a:lnSpc>
                          <a:spcPct val="100000"/>
                        </a:lnSpc>
                        <a:spcBef>
                          <a:spcPts val="0"/>
                        </a:spcBef>
                        <a:spcAft>
                          <a:spcPts val="0"/>
                        </a:spcAft>
                        <a:buNone/>
                      </a:pPr>
                      <a:endParaRPr lang="en-US" sz="2200" b="0" i="1" u="none" strike="noStrike" noProof="0">
                        <a:solidFill>
                          <a:srgbClr val="000000"/>
                        </a:solidFill>
                        <a:latin typeface="Times New Roman"/>
                      </a:endParaRPr>
                    </a:p>
                    <a:p>
                      <a:pPr lvl="0" algn="just">
                        <a:buNone/>
                      </a:pPr>
                      <a:endParaRPr lang="en-US" sz="2200" i="1">
                        <a:latin typeface="Times New Roman"/>
                      </a:endParaRPr>
                    </a:p>
                  </a:txBody>
                  <a:tcPr>
                    <a:solidFill>
                      <a:schemeClr val="bg1">
                        <a:lumMod val="95000"/>
                      </a:schemeClr>
                    </a:solidFill>
                  </a:tcPr>
                </a:tc>
                <a:tc>
                  <a:txBody>
                    <a:bodyPr/>
                    <a:lstStyle/>
                    <a:p>
                      <a:pPr marL="0" lvl="0" indent="0" algn="just">
                        <a:lnSpc>
                          <a:spcPct val="100000"/>
                        </a:lnSpc>
                        <a:buNone/>
                      </a:pPr>
                      <a:r>
                        <a:rPr lang="en-US" sz="2200" b="0" i="1" u="none" strike="noStrike" baseline="0" noProof="0">
                          <a:solidFill>
                            <a:srgbClr val="000000"/>
                          </a:solidFill>
                          <a:latin typeface="Times New Roman"/>
                        </a:rPr>
                        <a:t>This paper uses a Markov network to model how buying one product category influences buying another in Japanese convenience stores. Using 54 million receipts, the simulation reproduced real customer basket sizes and revealed “attractor” categories that drive other purchases.</a:t>
                      </a:r>
                      <a:endParaRPr lang="en-US"/>
                    </a:p>
                  </a:txBody>
                  <a:tcPr>
                    <a:solidFill>
                      <a:schemeClr val="bg1">
                        <a:lumMod val="95000"/>
                      </a:schemeClr>
                    </a:solidFill>
                  </a:tcPr>
                </a:tc>
                <a:extLst>
                  <a:ext uri="{0D108BD9-81ED-4DB2-BD59-A6C34878D82A}">
                    <a16:rowId xmlns:a16="http://schemas.microsoft.com/office/drawing/2014/main" val="3244069221"/>
                  </a:ext>
                </a:extLst>
              </a:tr>
            </a:tbl>
          </a:graphicData>
        </a:graphic>
      </p:graphicFrame>
      <p:sp>
        <p:nvSpPr>
          <p:cNvPr id="4" name="Rectangle 3">
            <a:extLst>
              <a:ext uri="{FF2B5EF4-FFF2-40B4-BE49-F238E27FC236}">
                <a16:creationId xmlns:a16="http://schemas.microsoft.com/office/drawing/2014/main" id="{5A29E68C-F3B4-518B-5767-04AD19BEBB20}"/>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2622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51D4BB-D67E-9F88-53B6-66455F3FD75A}"/>
              </a:ext>
            </a:extLst>
          </p:cNvPr>
          <p:cNvSpPr txBox="1"/>
          <p:nvPr/>
        </p:nvSpPr>
        <p:spPr>
          <a:xfrm>
            <a:off x="766916" y="1542928"/>
            <a:ext cx="10392696" cy="4708981"/>
          </a:xfrm>
          <a:prstGeom prst="rect">
            <a:avLst/>
          </a:prstGeom>
          <a:noFill/>
        </p:spPr>
        <p:txBody>
          <a:bodyPr wrap="square">
            <a:spAutoFit/>
          </a:bodyPr>
          <a:lstStyle/>
          <a:p>
            <a:pPr marL="342900" indent="-342900" algn="just">
              <a:buFont typeface="Arial" panose="020B0604020202020204" pitchFamily="34" charset="0"/>
              <a:buChar char="•"/>
            </a:pPr>
            <a:r>
              <a:rPr lang="en-US" sz="2000" i="1" dirty="0">
                <a:latin typeface="Times New Roman" panose="02020603050405020304" pitchFamily="18" charset="0"/>
                <a:cs typeface="Times New Roman" panose="02020603050405020304" pitchFamily="18" charset="0"/>
              </a:rPr>
              <a:t>The application demonstrates the power of </a:t>
            </a:r>
            <a:r>
              <a:rPr lang="en-US" sz="2000" b="1" i="1" dirty="0">
                <a:latin typeface="Times New Roman" panose="02020603050405020304" pitchFamily="18" charset="0"/>
                <a:cs typeface="Times New Roman" panose="02020603050405020304" pitchFamily="18" charset="0"/>
              </a:rPr>
              <a:t>agent-based modeling</a:t>
            </a:r>
            <a:r>
              <a:rPr lang="en-US" sz="2000" i="1" dirty="0">
                <a:latin typeface="Times New Roman" panose="02020603050405020304" pitchFamily="18" charset="0"/>
                <a:cs typeface="Times New Roman" panose="02020603050405020304" pitchFamily="18" charset="0"/>
              </a:rPr>
              <a:t> and </a:t>
            </a:r>
            <a:r>
              <a:rPr lang="en-US" sz="2000" b="1" i="1" dirty="0">
                <a:latin typeface="Times New Roman" panose="02020603050405020304" pitchFamily="18" charset="0"/>
                <a:cs typeface="Times New Roman" panose="02020603050405020304" pitchFamily="18" charset="0"/>
              </a:rPr>
              <a:t>data-driven decision-making</a:t>
            </a:r>
            <a:r>
              <a:rPr lang="en-US" sz="2000" i="1" dirty="0">
                <a:latin typeface="Times New Roman" panose="02020603050405020304" pitchFamily="18" charset="0"/>
                <a:cs typeface="Times New Roman" panose="02020603050405020304" pitchFamily="18" charset="0"/>
              </a:rPr>
              <a:t> in retail.</a:t>
            </a:r>
          </a:p>
          <a:p>
            <a:pPr marL="342900" indent="-342900" algn="just">
              <a:buFont typeface="Arial" panose="020B0604020202020204" pitchFamily="34" charset="0"/>
              <a:buChar char="•"/>
            </a:pPr>
            <a:r>
              <a:rPr lang="en-US" sz="2000" i="1" dirty="0">
                <a:latin typeface="Times New Roman" panose="02020603050405020304" pitchFamily="18" charset="0"/>
                <a:cs typeface="Times New Roman" panose="02020603050405020304" pitchFamily="18" charset="0"/>
              </a:rPr>
              <a:t>It can help supermarkets </a:t>
            </a:r>
            <a:r>
              <a:rPr lang="en-US" sz="2000" b="1" i="1" dirty="0">
                <a:latin typeface="Times New Roman" panose="02020603050405020304" pitchFamily="18" charset="0"/>
                <a:cs typeface="Times New Roman" panose="02020603050405020304" pitchFamily="18" charset="0"/>
              </a:rPr>
              <a:t>analyze customer flow</a:t>
            </a:r>
            <a:r>
              <a:rPr lang="en-US" sz="2000" i="1" dirty="0">
                <a:latin typeface="Times New Roman" panose="02020603050405020304" pitchFamily="18" charset="0"/>
                <a:cs typeface="Times New Roman" panose="02020603050405020304" pitchFamily="18" charset="0"/>
              </a:rPr>
              <a:t>, </a:t>
            </a:r>
            <a:r>
              <a:rPr lang="en-US" sz="2000" b="1" i="1" dirty="0">
                <a:latin typeface="Times New Roman" panose="02020603050405020304" pitchFamily="18" charset="0"/>
                <a:cs typeface="Times New Roman" panose="02020603050405020304" pitchFamily="18" charset="0"/>
              </a:rPr>
              <a:t>optimize store layout</a:t>
            </a:r>
            <a:r>
              <a:rPr lang="en-US" sz="2000" i="1" dirty="0">
                <a:latin typeface="Times New Roman" panose="02020603050405020304" pitchFamily="18" charset="0"/>
                <a:cs typeface="Times New Roman" panose="02020603050405020304" pitchFamily="18" charset="0"/>
              </a:rPr>
              <a:t>, </a:t>
            </a:r>
            <a:r>
              <a:rPr lang="en-US" sz="2000" b="1" i="1" dirty="0">
                <a:latin typeface="Times New Roman" panose="02020603050405020304" pitchFamily="18" charset="0"/>
                <a:cs typeface="Times New Roman" panose="02020603050405020304" pitchFamily="18" charset="0"/>
              </a:rPr>
              <a:t>predict sales patterns</a:t>
            </a:r>
            <a:r>
              <a:rPr lang="en-US" sz="2000" i="1" dirty="0">
                <a:latin typeface="Times New Roman" panose="02020603050405020304" pitchFamily="18" charset="0"/>
                <a:cs typeface="Times New Roman" panose="02020603050405020304" pitchFamily="18" charset="0"/>
              </a:rPr>
              <a:t>, and </a:t>
            </a:r>
            <a:r>
              <a:rPr lang="en-US" sz="2000" b="1" i="1" dirty="0">
                <a:latin typeface="Times New Roman" panose="02020603050405020304" pitchFamily="18" charset="0"/>
                <a:cs typeface="Times New Roman" panose="02020603050405020304" pitchFamily="18" charset="0"/>
              </a:rPr>
              <a:t>improve operational efficiency</a:t>
            </a:r>
            <a:r>
              <a:rPr lang="en-US" sz="2000" i="1"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000" i="1" dirty="0">
                <a:latin typeface="Times New Roman" panose="02020603050405020304" pitchFamily="18" charset="0"/>
                <a:cs typeface="Times New Roman" panose="02020603050405020304" pitchFamily="18" charset="0"/>
              </a:rPr>
              <a:t>By integrating real-time visualization with analytics, it provides actionable insights for enhancing customer experience and maximizing revenue.</a:t>
            </a:r>
          </a:p>
          <a:p>
            <a:pPr marL="342900" indent="-342900" algn="just">
              <a:buFont typeface="Arial" panose="020B0604020202020204" pitchFamily="34" charset="0"/>
              <a:buChar char="•"/>
            </a:pPr>
            <a:endParaRPr lang="en-US" sz="2000" i="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i="1" dirty="0">
              <a:latin typeface="Times New Roman" panose="02020603050405020304" pitchFamily="18" charset="0"/>
              <a:cs typeface="Times New Roman" panose="02020603050405020304" pitchFamily="18" charset="0"/>
            </a:endParaRPr>
          </a:p>
          <a:p>
            <a:pPr algn="just">
              <a:buNone/>
            </a:pPr>
            <a:r>
              <a:rPr lang="en-US" sz="2000" b="1" i="1" dirty="0">
                <a:effectLst/>
                <a:latin typeface="Times New Roman" panose="02020603050405020304" pitchFamily="18" charset="0"/>
                <a:cs typeface="Times New Roman" panose="02020603050405020304" pitchFamily="18" charset="0"/>
              </a:rPr>
              <a:t>Customer Behavior Analysis</a:t>
            </a:r>
            <a:r>
              <a:rPr lang="en-US" sz="2000" i="1" dirty="0">
                <a:effectLst/>
                <a:latin typeface="Times New Roman" panose="02020603050405020304" pitchFamily="18" charset="0"/>
                <a:cs typeface="Times New Roman" panose="02020603050405020304" pitchFamily="18" charset="0"/>
              </a:rPr>
              <a:t>:</a:t>
            </a:r>
          </a:p>
          <a:p>
            <a:pPr algn="just">
              <a:buFont typeface="+mj-lt"/>
              <a:buAutoNum type="arabicPeriod"/>
            </a:pPr>
            <a:r>
              <a:rPr lang="en-US" sz="2000" b="1" i="1" dirty="0">
                <a:latin typeface="Times New Roman" panose="02020603050405020304" pitchFamily="18" charset="0"/>
                <a:cs typeface="Times New Roman" panose="02020603050405020304" pitchFamily="18" charset="0"/>
              </a:rPr>
              <a:t>Data Input</a:t>
            </a:r>
            <a:r>
              <a:rPr lang="en-US" sz="2000" i="1" dirty="0">
                <a:latin typeface="Times New Roman" panose="02020603050405020304" pitchFamily="18" charset="0"/>
                <a:cs typeface="Times New Roman" panose="02020603050405020304" pitchFamily="18" charset="0"/>
              </a:rPr>
              <a:t>: Transition matrix drives probabilistic movement (e.g., 37.73% from entry to fruit).</a:t>
            </a:r>
          </a:p>
          <a:p>
            <a:pPr algn="just">
              <a:buFont typeface="+mj-lt"/>
              <a:buAutoNum type="arabicPeriod"/>
            </a:pPr>
            <a:r>
              <a:rPr lang="en-US" sz="2000" b="1" i="1" dirty="0">
                <a:latin typeface="Times New Roman" panose="02020603050405020304" pitchFamily="18" charset="0"/>
                <a:cs typeface="Times New Roman" panose="02020603050405020304" pitchFamily="18" charset="0"/>
              </a:rPr>
              <a:t>Simulation Output</a:t>
            </a:r>
            <a:r>
              <a:rPr lang="en-US" sz="2000" i="1" dirty="0">
                <a:latin typeface="Times New Roman" panose="02020603050405020304" pitchFamily="18" charset="0"/>
                <a:cs typeface="Times New Roman" panose="02020603050405020304" pitchFamily="18" charset="0"/>
              </a:rPr>
              <a:t>: Tracks visit counts and revenue per section.</a:t>
            </a:r>
          </a:p>
          <a:p>
            <a:pPr algn="just">
              <a:buFont typeface="+mj-lt"/>
              <a:buAutoNum type="arabicPeriod"/>
            </a:pPr>
            <a:r>
              <a:rPr lang="en-US" sz="2000" b="1" i="1" dirty="0">
                <a:latin typeface="Times New Roman" panose="02020603050405020304" pitchFamily="18" charset="0"/>
                <a:cs typeface="Times New Roman" panose="02020603050405020304" pitchFamily="18" charset="0"/>
              </a:rPr>
              <a:t>Insights</a:t>
            </a:r>
            <a:r>
              <a:rPr lang="en-US" sz="2000" i="1" dirty="0">
                <a:latin typeface="Times New Roman" panose="02020603050405020304" pitchFamily="18" charset="0"/>
                <a:cs typeface="Times New Roman" panose="02020603050405020304" pitchFamily="18" charset="0"/>
              </a:rPr>
              <a:t>: High visits to drinks ($5/visit) suggest popularity; low spices visits ($2/visit) indicate low demand.</a:t>
            </a:r>
          </a:p>
          <a:p>
            <a:pPr algn="just">
              <a:buFont typeface="+mj-lt"/>
              <a:buAutoNum type="arabicPeriod"/>
            </a:pPr>
            <a:r>
              <a:rPr lang="en-US" sz="2000" b="1" i="1" dirty="0">
                <a:latin typeface="Times New Roman" panose="02020603050405020304" pitchFamily="18" charset="0"/>
                <a:cs typeface="Times New Roman" panose="02020603050405020304" pitchFamily="18" charset="0"/>
              </a:rPr>
              <a:t>Optimization</a:t>
            </a:r>
            <a:r>
              <a:rPr lang="en-US" sz="2000" i="1" dirty="0">
                <a:latin typeface="Times New Roman" panose="02020603050405020304" pitchFamily="18" charset="0"/>
                <a:cs typeface="Times New Roman" panose="02020603050405020304" pitchFamily="18" charset="0"/>
              </a:rPr>
              <a:t>: Move high-revenue sections (e.g., Drinks) near entry; place low-revenue ones (e.g., Spices) farther to encourage exploration.</a:t>
            </a:r>
          </a:p>
        </p:txBody>
      </p:sp>
      <p:sp>
        <p:nvSpPr>
          <p:cNvPr id="4" name="Rectangle 3">
            <a:extLst>
              <a:ext uri="{FF2B5EF4-FFF2-40B4-BE49-F238E27FC236}">
                <a16:creationId xmlns:a16="http://schemas.microsoft.com/office/drawing/2014/main" id="{B0960A29-CDBD-6D01-4673-A58FCE3739CD}"/>
              </a:ext>
            </a:extLst>
          </p:cNvPr>
          <p:cNvSpPr/>
          <p:nvPr/>
        </p:nvSpPr>
        <p:spPr>
          <a:xfrm>
            <a:off x="266174" y="268480"/>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Title 1">
            <a:extLst>
              <a:ext uri="{FF2B5EF4-FFF2-40B4-BE49-F238E27FC236}">
                <a16:creationId xmlns:a16="http://schemas.microsoft.com/office/drawing/2014/main" id="{6770726F-C69A-87E4-EAD0-08D50B03EA2A}"/>
              </a:ext>
            </a:extLst>
          </p:cNvPr>
          <p:cNvSpPr txBox="1">
            <a:spLocks/>
          </p:cNvSpPr>
          <p:nvPr/>
        </p:nvSpPr>
        <p:spPr>
          <a:xfrm>
            <a:off x="838200" y="606091"/>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i="1" dirty="0">
                <a:latin typeface="Times New Roman"/>
                <a:cs typeface="Times New Roman"/>
              </a:rPr>
              <a:t>Application</a:t>
            </a:r>
          </a:p>
        </p:txBody>
      </p:sp>
    </p:spTree>
    <p:extLst>
      <p:ext uri="{BB962C8B-B14F-4D97-AF65-F5344CB8AC3E}">
        <p14:creationId xmlns:p14="http://schemas.microsoft.com/office/powerpoint/2010/main" val="4263206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F567-FD98-385E-4EFE-781AACB04CAF}"/>
              </a:ext>
            </a:extLst>
          </p:cNvPr>
          <p:cNvSpPr>
            <a:spLocks noGrp="1"/>
          </p:cNvSpPr>
          <p:nvPr>
            <p:ph type="title"/>
          </p:nvPr>
        </p:nvSpPr>
        <p:spPr/>
        <p:txBody>
          <a:bodyPr/>
          <a:lstStyle/>
          <a:p>
            <a:r>
              <a:rPr lang="en-US" b="1" i="1" dirty="0">
                <a:latin typeface="Times New Roman"/>
                <a:cs typeface="Times New Roman"/>
              </a:rPr>
              <a:t>Dataset Info</a:t>
            </a:r>
          </a:p>
        </p:txBody>
      </p:sp>
      <p:sp>
        <p:nvSpPr>
          <p:cNvPr id="3" name="Content Placeholder 2">
            <a:extLst>
              <a:ext uri="{FF2B5EF4-FFF2-40B4-BE49-F238E27FC236}">
                <a16:creationId xmlns:a16="http://schemas.microsoft.com/office/drawing/2014/main" id="{5FC6F799-06F0-2C48-9A77-690E63A93633}"/>
              </a:ext>
            </a:extLst>
          </p:cNvPr>
          <p:cNvSpPr>
            <a:spLocks noGrp="1"/>
          </p:cNvSpPr>
          <p:nvPr>
            <p:ph idx="1"/>
          </p:nvPr>
        </p:nvSpPr>
        <p:spPr>
          <a:xfrm>
            <a:off x="838200" y="1590302"/>
            <a:ext cx="10515600" cy="4833190"/>
          </a:xfrm>
        </p:spPr>
        <p:txBody>
          <a:bodyPr vert="horz" lIns="91440" tIns="45720" rIns="91440" bIns="45720" rtlCol="0" anchor="t">
            <a:noAutofit/>
          </a:bodyPr>
          <a:lstStyle/>
          <a:p>
            <a:pPr algn="just">
              <a:lnSpc>
                <a:spcPct val="100000"/>
              </a:lnSpc>
            </a:pPr>
            <a:r>
              <a:rPr lang="en-US" sz="2200" i="1" dirty="0">
                <a:latin typeface="Times New Roman"/>
                <a:cs typeface="Times New Roman"/>
              </a:rPr>
              <a:t>The dataset contains the location of customer in each section of the Grocery store with different time measured over 5 days from Monday to Friday (in csv form) and a JSON file. </a:t>
            </a:r>
          </a:p>
          <a:p>
            <a:pPr marL="0" indent="0" algn="just">
              <a:buNone/>
            </a:pPr>
            <a:r>
              <a:rPr lang="en-US" sz="2200" b="1" i="1" dirty="0">
                <a:latin typeface="Times New Roman"/>
                <a:ea typeface="+mn-lt"/>
                <a:cs typeface="Times New Roman"/>
              </a:rPr>
              <a:t>Purpose:</a:t>
            </a:r>
            <a:r>
              <a:rPr lang="en-US" sz="2200" i="1" dirty="0">
                <a:latin typeface="Times New Roman"/>
                <a:ea typeface="+mn-lt"/>
                <a:cs typeface="Times New Roman"/>
              </a:rPr>
              <a:t> Track customer movement across different supermarket sections.</a:t>
            </a:r>
            <a:endParaRPr lang="en-US" sz="2200" i="1" dirty="0">
              <a:latin typeface="Times New Roman"/>
              <a:cs typeface="Times New Roman"/>
            </a:endParaRPr>
          </a:p>
          <a:p>
            <a:pPr marL="0" indent="0" algn="just">
              <a:buNone/>
            </a:pPr>
            <a:endParaRPr lang="en-US" sz="2400" b="1" i="1" dirty="0">
              <a:latin typeface="Times New Roman"/>
              <a:ea typeface="+mn-lt"/>
              <a:cs typeface="Times New Roman"/>
            </a:endParaRPr>
          </a:p>
          <a:p>
            <a:pPr marL="0" indent="0" algn="just">
              <a:buNone/>
            </a:pPr>
            <a:r>
              <a:rPr lang="en-US" sz="2400" b="1" i="1" u="sng" dirty="0">
                <a:latin typeface="Times New Roman"/>
                <a:ea typeface="+mn-lt"/>
                <a:cs typeface="Times New Roman"/>
              </a:rPr>
              <a:t>CSV File Columns</a:t>
            </a:r>
          </a:p>
          <a:p>
            <a:pPr algn="just">
              <a:buFont typeface="Arial"/>
              <a:buChar char="•"/>
            </a:pPr>
            <a:r>
              <a:rPr lang="en-US" sz="2200" b="1" i="1" dirty="0">
                <a:latin typeface="Times New Roman"/>
                <a:ea typeface="+mn-lt"/>
                <a:cs typeface="Times New Roman"/>
              </a:rPr>
              <a:t>timestamp</a:t>
            </a:r>
            <a:r>
              <a:rPr lang="en-US" sz="2200" i="1" dirty="0">
                <a:latin typeface="Times New Roman"/>
                <a:ea typeface="+mn-lt"/>
                <a:cs typeface="Times New Roman"/>
              </a:rPr>
              <a:t> → Date &amp; time of event (e.g., </a:t>
            </a:r>
            <a:r>
              <a:rPr lang="en-US" sz="2200" i="1" dirty="0">
                <a:latin typeface="Times New Roman"/>
                <a:cs typeface="Times New Roman"/>
              </a:rPr>
              <a:t>2019-09-02 07:03:00</a:t>
            </a:r>
            <a:r>
              <a:rPr lang="en-US" sz="2200" i="1" dirty="0">
                <a:latin typeface="Times New Roman"/>
                <a:ea typeface="+mn-lt"/>
                <a:cs typeface="Times New Roman"/>
              </a:rPr>
              <a:t>).</a:t>
            </a:r>
            <a:endParaRPr lang="en-US" sz="2200" i="1" dirty="0">
              <a:latin typeface="Times New Roman"/>
              <a:cs typeface="Times New Roman"/>
            </a:endParaRPr>
          </a:p>
          <a:p>
            <a:pPr algn="just">
              <a:buFont typeface="Arial"/>
              <a:buChar char="•"/>
            </a:pPr>
            <a:r>
              <a:rPr lang="en-US" sz="2200" b="1" i="1" dirty="0">
                <a:latin typeface="Times New Roman"/>
                <a:ea typeface="+mn-lt"/>
                <a:cs typeface="Times New Roman"/>
              </a:rPr>
              <a:t>customer no</a:t>
            </a:r>
            <a:r>
              <a:rPr lang="en-US" sz="2200" i="1" dirty="0">
                <a:latin typeface="Times New Roman"/>
                <a:ea typeface="+mn-lt"/>
                <a:cs typeface="Times New Roman"/>
              </a:rPr>
              <a:t> → Unique customer identifier (e.g., </a:t>
            </a:r>
            <a:r>
              <a:rPr lang="en-US" sz="2200" i="1" dirty="0">
                <a:latin typeface="Times New Roman"/>
                <a:cs typeface="Times New Roman"/>
              </a:rPr>
              <a:t>1</a:t>
            </a:r>
            <a:r>
              <a:rPr lang="en-US" sz="2200" i="1" dirty="0">
                <a:latin typeface="Times New Roman"/>
                <a:ea typeface="+mn-lt"/>
                <a:cs typeface="Times New Roman"/>
              </a:rPr>
              <a:t>, </a:t>
            </a:r>
            <a:r>
              <a:rPr lang="en-US" sz="2200" i="1" dirty="0">
                <a:latin typeface="Times New Roman"/>
                <a:cs typeface="Times New Roman"/>
              </a:rPr>
              <a:t>2</a:t>
            </a:r>
            <a:r>
              <a:rPr lang="en-US" sz="2200" i="1" dirty="0">
                <a:latin typeface="Times New Roman"/>
                <a:ea typeface="+mn-lt"/>
                <a:cs typeface="Times New Roman"/>
              </a:rPr>
              <a:t>, </a:t>
            </a:r>
            <a:r>
              <a:rPr lang="en-US" sz="2200" i="1" dirty="0">
                <a:latin typeface="Times New Roman"/>
                <a:cs typeface="Times New Roman"/>
              </a:rPr>
              <a:t>3</a:t>
            </a:r>
            <a:r>
              <a:rPr lang="en-US" sz="2200" i="1" dirty="0">
                <a:latin typeface="Times New Roman"/>
                <a:ea typeface="+mn-lt"/>
                <a:cs typeface="Times New Roman"/>
              </a:rPr>
              <a:t>).</a:t>
            </a:r>
            <a:endParaRPr lang="en-US" sz="2200" i="1" dirty="0">
              <a:latin typeface="Times New Roman"/>
              <a:cs typeface="Times New Roman"/>
            </a:endParaRPr>
          </a:p>
          <a:p>
            <a:pPr algn="just">
              <a:buFont typeface="Arial"/>
              <a:buChar char="•"/>
            </a:pPr>
            <a:r>
              <a:rPr lang="en-US" sz="2200" b="1" i="1" dirty="0">
                <a:latin typeface="Times New Roman"/>
                <a:ea typeface="+mn-lt"/>
                <a:cs typeface="Times New Roman"/>
              </a:rPr>
              <a:t>location</a:t>
            </a:r>
            <a:r>
              <a:rPr lang="en-US" sz="2200" i="1" dirty="0">
                <a:latin typeface="Times New Roman"/>
                <a:ea typeface="+mn-lt"/>
                <a:cs typeface="Times New Roman"/>
              </a:rPr>
              <a:t> → Store section visited (</a:t>
            </a:r>
            <a:r>
              <a:rPr lang="en-US" sz="2200" i="1" dirty="0">
                <a:latin typeface="Times New Roman"/>
                <a:cs typeface="Times New Roman"/>
              </a:rPr>
              <a:t>dairy</a:t>
            </a:r>
            <a:r>
              <a:rPr lang="en-US" sz="2200" i="1" dirty="0">
                <a:latin typeface="Times New Roman"/>
                <a:ea typeface="+mn-lt"/>
                <a:cs typeface="Times New Roman"/>
              </a:rPr>
              <a:t>, </a:t>
            </a:r>
            <a:r>
              <a:rPr lang="en-US" sz="2200" i="1" dirty="0">
                <a:latin typeface="Times New Roman"/>
                <a:cs typeface="Times New Roman"/>
              </a:rPr>
              <a:t>spices</a:t>
            </a:r>
            <a:r>
              <a:rPr lang="en-US" sz="2200" i="1" dirty="0">
                <a:latin typeface="Times New Roman"/>
                <a:ea typeface="+mn-lt"/>
                <a:cs typeface="Times New Roman"/>
              </a:rPr>
              <a:t>, </a:t>
            </a:r>
            <a:r>
              <a:rPr lang="en-US" sz="2200" i="1" dirty="0">
                <a:latin typeface="Times New Roman"/>
                <a:cs typeface="Times New Roman"/>
              </a:rPr>
              <a:t>fruit</a:t>
            </a:r>
            <a:r>
              <a:rPr lang="en-US" sz="2200" i="1" dirty="0">
                <a:latin typeface="Times New Roman"/>
                <a:ea typeface="+mn-lt"/>
                <a:cs typeface="Times New Roman"/>
              </a:rPr>
              <a:t>, </a:t>
            </a:r>
            <a:r>
              <a:rPr lang="en-US" sz="2200" i="1" dirty="0">
                <a:latin typeface="Times New Roman"/>
                <a:cs typeface="Times New Roman"/>
              </a:rPr>
              <a:t>drinks</a:t>
            </a:r>
            <a:r>
              <a:rPr lang="en-US" sz="2200" i="1" dirty="0">
                <a:latin typeface="Times New Roman"/>
                <a:ea typeface="+mn-lt"/>
                <a:cs typeface="Times New Roman"/>
              </a:rPr>
              <a:t>, </a:t>
            </a:r>
            <a:r>
              <a:rPr lang="en-US" sz="2200" i="1" dirty="0">
                <a:latin typeface="Times New Roman"/>
                <a:cs typeface="Times New Roman"/>
              </a:rPr>
              <a:t>checkout, entry</a:t>
            </a:r>
            <a:r>
              <a:rPr lang="en-US" sz="2200" i="1" dirty="0">
                <a:latin typeface="Times New Roman"/>
                <a:ea typeface="+mn-lt"/>
                <a:cs typeface="Times New Roman"/>
              </a:rPr>
              <a:t>.).</a:t>
            </a:r>
            <a:endParaRPr lang="en-US" sz="2200" i="1" dirty="0">
              <a:latin typeface="Times New Roman"/>
              <a:cs typeface="Times New Roman"/>
            </a:endParaRPr>
          </a:p>
          <a:p>
            <a:pPr marL="0" indent="0" algn="just">
              <a:lnSpc>
                <a:spcPct val="100000"/>
              </a:lnSpc>
              <a:buNone/>
            </a:pPr>
            <a:endParaRPr lang="en-US" sz="2500" i="1" dirty="0">
              <a:latin typeface="Times New Roman"/>
              <a:cs typeface="Times New Roman"/>
            </a:endParaRPr>
          </a:p>
          <a:p>
            <a:pPr marL="457200" lvl="1" indent="0">
              <a:lnSpc>
                <a:spcPct val="70000"/>
              </a:lnSpc>
              <a:buNone/>
            </a:pPr>
            <a:endParaRPr lang="en-US" i="1" dirty="0">
              <a:latin typeface="Times New Roman"/>
              <a:cs typeface="Times New Roman"/>
            </a:endParaRPr>
          </a:p>
          <a:p>
            <a:pPr lvl="1">
              <a:lnSpc>
                <a:spcPct val="70000"/>
              </a:lnSpc>
              <a:buFont typeface="Courier New" panose="020B0604020202020204" pitchFamily="34" charset="0"/>
              <a:buChar char="o"/>
            </a:pPr>
            <a:endParaRPr lang="en-US" i="1" dirty="0">
              <a:latin typeface="Times New Roman"/>
              <a:cs typeface="Times New Roman"/>
            </a:endParaRPr>
          </a:p>
          <a:p>
            <a:endParaRPr lang="en-US" sz="2400" i="1" dirty="0">
              <a:latin typeface="Times New Roman"/>
              <a:cs typeface="Times New Roman"/>
            </a:endParaRPr>
          </a:p>
        </p:txBody>
      </p:sp>
      <p:sp>
        <p:nvSpPr>
          <p:cNvPr id="5" name="Rectangle 4">
            <a:extLst>
              <a:ext uri="{FF2B5EF4-FFF2-40B4-BE49-F238E27FC236}">
                <a16:creationId xmlns:a16="http://schemas.microsoft.com/office/drawing/2014/main" id="{C9CE2209-A76B-A089-E84B-9C7EC58631CF}"/>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52101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94F7E8F-112F-580E-9F98-81A7C6051F15}"/>
              </a:ext>
            </a:extLst>
          </p:cNvPr>
          <p:cNvSpPr>
            <a:spLocks noGrp="1"/>
          </p:cNvSpPr>
          <p:nvPr>
            <p:ph type="title"/>
          </p:nvPr>
        </p:nvSpPr>
        <p:spPr>
          <a:xfrm>
            <a:off x="838200" y="365125"/>
            <a:ext cx="10515600" cy="1325563"/>
          </a:xfrm>
        </p:spPr>
        <p:txBody>
          <a:bodyPr/>
          <a:lstStyle/>
          <a:p>
            <a:r>
              <a:rPr lang="en-US" b="1" i="1">
                <a:latin typeface="Times New Roman"/>
                <a:cs typeface="Times New Roman"/>
              </a:rPr>
              <a:t>Flow Chart </a:t>
            </a:r>
          </a:p>
        </p:txBody>
      </p:sp>
      <p:sp>
        <p:nvSpPr>
          <p:cNvPr id="7" name="Rectangle 6">
            <a:extLst>
              <a:ext uri="{FF2B5EF4-FFF2-40B4-BE49-F238E27FC236}">
                <a16:creationId xmlns:a16="http://schemas.microsoft.com/office/drawing/2014/main" id="{BCAD0651-E17D-C00C-E810-159B19563967}"/>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792A9360-5C23-DEA1-AD58-FEB37118D16A}"/>
              </a:ext>
            </a:extLst>
          </p:cNvPr>
          <p:cNvSpPr/>
          <p:nvPr/>
        </p:nvSpPr>
        <p:spPr>
          <a:xfrm>
            <a:off x="842836" y="1932650"/>
            <a:ext cx="2006627" cy="1502455"/>
          </a:xfrm>
          <a:prstGeom prst="roundRect">
            <a:avLst/>
          </a:prstGeom>
          <a:solidFill>
            <a:schemeClr val="bg1">
              <a:lumMod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i="1">
                <a:solidFill>
                  <a:schemeClr val="tx1"/>
                </a:solidFill>
                <a:latin typeface="Times New Roman"/>
                <a:cs typeface="Times New Roman"/>
              </a:rPr>
              <a:t>Data Loading (all csv files )</a:t>
            </a:r>
          </a:p>
        </p:txBody>
      </p:sp>
      <p:sp>
        <p:nvSpPr>
          <p:cNvPr id="16" name="Rectangle: Rounded Corners 15">
            <a:extLst>
              <a:ext uri="{FF2B5EF4-FFF2-40B4-BE49-F238E27FC236}">
                <a16:creationId xmlns:a16="http://schemas.microsoft.com/office/drawing/2014/main" id="{D035B114-4204-35B4-310E-470991F2FC99}"/>
              </a:ext>
            </a:extLst>
          </p:cNvPr>
          <p:cNvSpPr/>
          <p:nvPr/>
        </p:nvSpPr>
        <p:spPr>
          <a:xfrm>
            <a:off x="3552168" y="1932650"/>
            <a:ext cx="2133627" cy="1502455"/>
          </a:xfrm>
          <a:prstGeom prst="roundRect">
            <a:avLst/>
          </a:prstGeom>
          <a:solidFill>
            <a:schemeClr val="bg1">
              <a:lumMod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i="1">
                <a:solidFill>
                  <a:schemeClr val="tx1"/>
                </a:solidFill>
                <a:latin typeface="Times New Roman"/>
                <a:cs typeface="Times New Roman"/>
              </a:rPr>
              <a:t>Preprocessing (merge days, assign UIDs, extract time)</a:t>
            </a:r>
          </a:p>
        </p:txBody>
      </p:sp>
      <p:sp>
        <p:nvSpPr>
          <p:cNvPr id="17" name="Rectangle: Rounded Corners 16">
            <a:extLst>
              <a:ext uri="{FF2B5EF4-FFF2-40B4-BE49-F238E27FC236}">
                <a16:creationId xmlns:a16="http://schemas.microsoft.com/office/drawing/2014/main" id="{6098F047-055E-564A-F2C6-00FE10D294AB}"/>
              </a:ext>
            </a:extLst>
          </p:cNvPr>
          <p:cNvSpPr/>
          <p:nvPr/>
        </p:nvSpPr>
        <p:spPr>
          <a:xfrm>
            <a:off x="6416724" y="1932650"/>
            <a:ext cx="2147738" cy="1502455"/>
          </a:xfrm>
          <a:prstGeom prst="roundRect">
            <a:avLst/>
          </a:prstGeom>
          <a:solidFill>
            <a:schemeClr val="bg1">
              <a:lumMod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i="1">
                <a:solidFill>
                  <a:schemeClr val="tx1"/>
                </a:solidFill>
                <a:latin typeface="Times New Roman"/>
                <a:cs typeface="Times New Roman"/>
              </a:rPr>
              <a:t>Data Analysis (section visits, hourly counts &amp; plots)</a:t>
            </a:r>
          </a:p>
        </p:txBody>
      </p:sp>
      <p:sp>
        <p:nvSpPr>
          <p:cNvPr id="18" name="Rectangle: Rounded Corners 17">
            <a:extLst>
              <a:ext uri="{FF2B5EF4-FFF2-40B4-BE49-F238E27FC236}">
                <a16:creationId xmlns:a16="http://schemas.microsoft.com/office/drawing/2014/main" id="{A3C13160-D514-F27C-2174-91C226353710}"/>
              </a:ext>
            </a:extLst>
          </p:cNvPr>
          <p:cNvSpPr/>
          <p:nvPr/>
        </p:nvSpPr>
        <p:spPr>
          <a:xfrm>
            <a:off x="9168392" y="1932650"/>
            <a:ext cx="2331181" cy="1502455"/>
          </a:xfrm>
          <a:prstGeom prst="roundRect">
            <a:avLst/>
          </a:prstGeom>
          <a:solidFill>
            <a:schemeClr val="bg1">
              <a:lumMod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i="1">
                <a:solidFill>
                  <a:schemeClr val="tx1"/>
                </a:solidFill>
                <a:latin typeface="Times New Roman"/>
                <a:cs typeface="Times New Roman"/>
              </a:rPr>
              <a:t>Path Encoding (Converting visits into sequences with time spent)</a:t>
            </a:r>
          </a:p>
        </p:txBody>
      </p:sp>
      <p:sp>
        <p:nvSpPr>
          <p:cNvPr id="19" name="Rectangle: Rounded Corners 18">
            <a:extLst>
              <a:ext uri="{FF2B5EF4-FFF2-40B4-BE49-F238E27FC236}">
                <a16:creationId xmlns:a16="http://schemas.microsoft.com/office/drawing/2014/main" id="{065A4832-0C13-9FC5-B417-B61ADAE3A84F}"/>
              </a:ext>
            </a:extLst>
          </p:cNvPr>
          <p:cNvSpPr/>
          <p:nvPr/>
        </p:nvSpPr>
        <p:spPr>
          <a:xfrm>
            <a:off x="608361" y="4262218"/>
            <a:ext cx="2303540" cy="1659030"/>
          </a:xfrm>
          <a:prstGeom prst="roundRect">
            <a:avLst/>
          </a:prstGeom>
          <a:solidFill>
            <a:schemeClr val="bg1">
              <a:lumMod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i="1" dirty="0">
                <a:solidFill>
                  <a:schemeClr val="tx1"/>
                </a:solidFill>
                <a:latin typeface="Times New Roman"/>
                <a:cs typeface="Times New Roman"/>
              </a:rPr>
              <a:t>Enhancing customer experience and maximizing revenue</a:t>
            </a:r>
          </a:p>
        </p:txBody>
      </p:sp>
      <p:sp>
        <p:nvSpPr>
          <p:cNvPr id="20" name="Rectangle: Rounded Corners 19">
            <a:extLst>
              <a:ext uri="{FF2B5EF4-FFF2-40B4-BE49-F238E27FC236}">
                <a16:creationId xmlns:a16="http://schemas.microsoft.com/office/drawing/2014/main" id="{41BC9E18-F896-595D-E340-C2BDE19BB3EB}"/>
              </a:ext>
            </a:extLst>
          </p:cNvPr>
          <p:cNvSpPr/>
          <p:nvPr/>
        </p:nvSpPr>
        <p:spPr>
          <a:xfrm>
            <a:off x="3681683" y="4259852"/>
            <a:ext cx="2133628" cy="1659030"/>
          </a:xfrm>
          <a:prstGeom prst="roundRect">
            <a:avLst/>
          </a:prstGeom>
          <a:solidFill>
            <a:schemeClr val="bg1">
              <a:lumMod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i="1" dirty="0">
                <a:solidFill>
                  <a:schemeClr val="tx1"/>
                </a:solidFill>
                <a:latin typeface="Times New Roman"/>
                <a:cs typeface="Times New Roman"/>
              </a:rPr>
              <a:t>Analyzing the customer flow, optimize store layout, predict sales patterns</a:t>
            </a:r>
          </a:p>
        </p:txBody>
      </p:sp>
      <p:sp>
        <p:nvSpPr>
          <p:cNvPr id="21" name="Rectangle: Rounded Corners 20">
            <a:extLst>
              <a:ext uri="{FF2B5EF4-FFF2-40B4-BE49-F238E27FC236}">
                <a16:creationId xmlns:a16="http://schemas.microsoft.com/office/drawing/2014/main" id="{14868BD0-8EDE-8875-B2B7-F98EF47B5807}"/>
              </a:ext>
            </a:extLst>
          </p:cNvPr>
          <p:cNvSpPr/>
          <p:nvPr/>
        </p:nvSpPr>
        <p:spPr>
          <a:xfrm>
            <a:off x="6626973" y="4259852"/>
            <a:ext cx="2006627" cy="1502455"/>
          </a:xfrm>
          <a:prstGeom prst="roundRect">
            <a:avLst/>
          </a:prstGeom>
          <a:solidFill>
            <a:schemeClr val="bg1">
              <a:lumMod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i="1">
                <a:solidFill>
                  <a:schemeClr val="tx1"/>
                </a:solidFill>
                <a:latin typeface="Times New Roman"/>
                <a:cs typeface="Times New Roman"/>
              </a:rPr>
              <a:t>Markov Chain Modeling(Next state prediction &amp; simulation in python)</a:t>
            </a:r>
            <a:endParaRPr lang="en-US" sz="2000" i="1" dirty="0">
              <a:solidFill>
                <a:schemeClr val="tx1"/>
              </a:solidFill>
              <a:latin typeface="Times New Roman"/>
              <a:cs typeface="Times New Roman"/>
            </a:endParaRPr>
          </a:p>
        </p:txBody>
      </p:sp>
      <p:sp>
        <p:nvSpPr>
          <p:cNvPr id="22" name="Rectangle: Rounded Corners 21">
            <a:extLst>
              <a:ext uri="{FF2B5EF4-FFF2-40B4-BE49-F238E27FC236}">
                <a16:creationId xmlns:a16="http://schemas.microsoft.com/office/drawing/2014/main" id="{76F5FDC2-F96C-00E6-E754-9FFDEA13857D}"/>
              </a:ext>
            </a:extLst>
          </p:cNvPr>
          <p:cNvSpPr/>
          <p:nvPr/>
        </p:nvSpPr>
        <p:spPr>
          <a:xfrm>
            <a:off x="9492946" y="4224249"/>
            <a:ext cx="2006627" cy="1502455"/>
          </a:xfrm>
          <a:prstGeom prst="roundRect">
            <a:avLst/>
          </a:prstGeom>
          <a:solidFill>
            <a:schemeClr val="bg1">
              <a:lumMod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i="1" dirty="0">
                <a:solidFill>
                  <a:schemeClr val="tx1"/>
                </a:solidFill>
                <a:latin typeface="Times New Roman"/>
                <a:cs typeface="Times New Roman"/>
              </a:rPr>
              <a:t>Transition Matrix (count state  --  state moves)</a:t>
            </a:r>
          </a:p>
        </p:txBody>
      </p:sp>
      <p:sp>
        <p:nvSpPr>
          <p:cNvPr id="23" name="Arrow: Right 22">
            <a:extLst>
              <a:ext uri="{FF2B5EF4-FFF2-40B4-BE49-F238E27FC236}">
                <a16:creationId xmlns:a16="http://schemas.microsoft.com/office/drawing/2014/main" id="{9B99FF64-8FBB-4FF0-15EB-B132DAAF440A}"/>
              </a:ext>
            </a:extLst>
          </p:cNvPr>
          <p:cNvSpPr/>
          <p:nvPr/>
        </p:nvSpPr>
        <p:spPr>
          <a:xfrm>
            <a:off x="2863186" y="2663189"/>
            <a:ext cx="691281" cy="250415"/>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F283D3AD-F421-6496-DC2F-BFE962D0AB7B}"/>
              </a:ext>
            </a:extLst>
          </p:cNvPr>
          <p:cNvSpPr/>
          <p:nvPr/>
        </p:nvSpPr>
        <p:spPr>
          <a:xfrm>
            <a:off x="5727741" y="2663189"/>
            <a:ext cx="691281" cy="250415"/>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06B55FAE-D1ED-BF4C-A221-6599B3857687}"/>
              </a:ext>
            </a:extLst>
          </p:cNvPr>
          <p:cNvSpPr/>
          <p:nvPr/>
        </p:nvSpPr>
        <p:spPr>
          <a:xfrm>
            <a:off x="8564075" y="2677300"/>
            <a:ext cx="592504" cy="236304"/>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Right 26">
            <a:extLst>
              <a:ext uri="{FF2B5EF4-FFF2-40B4-BE49-F238E27FC236}">
                <a16:creationId xmlns:a16="http://schemas.microsoft.com/office/drawing/2014/main" id="{B5E74AC9-ED12-09EB-C815-07FB9E1D2E34}"/>
              </a:ext>
            </a:extLst>
          </p:cNvPr>
          <p:cNvSpPr/>
          <p:nvPr/>
        </p:nvSpPr>
        <p:spPr>
          <a:xfrm rot="5400000">
            <a:off x="9988341" y="3729892"/>
            <a:ext cx="691281" cy="250415"/>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DEC9EB02-D759-9D12-773F-66D1F1B39B5E}"/>
              </a:ext>
            </a:extLst>
          </p:cNvPr>
          <p:cNvSpPr/>
          <p:nvPr/>
        </p:nvSpPr>
        <p:spPr>
          <a:xfrm rot="10800000">
            <a:off x="8681285" y="4906855"/>
            <a:ext cx="691281" cy="250415"/>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1D2B9C54-DAAA-492B-9AAD-A883E03211F4}"/>
              </a:ext>
            </a:extLst>
          </p:cNvPr>
          <p:cNvSpPr/>
          <p:nvPr/>
        </p:nvSpPr>
        <p:spPr>
          <a:xfrm rot="10800000">
            <a:off x="5875502" y="4906855"/>
            <a:ext cx="691281" cy="250415"/>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84AEA83D-5F64-3055-F7D1-E62958FD0F4F}"/>
              </a:ext>
            </a:extLst>
          </p:cNvPr>
          <p:cNvSpPr/>
          <p:nvPr/>
        </p:nvSpPr>
        <p:spPr>
          <a:xfrm rot="10800000">
            <a:off x="2942717" y="4928556"/>
            <a:ext cx="691281" cy="250415"/>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8746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4DC59-0BBC-936B-CCCA-78D1AAE669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A05582-7BAE-D991-8B2C-C9FE0F6C044A}"/>
              </a:ext>
            </a:extLst>
          </p:cNvPr>
          <p:cNvSpPr>
            <a:spLocks noGrp="1"/>
          </p:cNvSpPr>
          <p:nvPr>
            <p:ph type="title"/>
          </p:nvPr>
        </p:nvSpPr>
        <p:spPr/>
        <p:txBody>
          <a:bodyPr/>
          <a:lstStyle/>
          <a:p>
            <a:r>
              <a:rPr lang="en-US" b="1" i="1" dirty="0">
                <a:latin typeface="Times New Roman"/>
                <a:cs typeface="Times New Roman"/>
              </a:rPr>
              <a:t>Mathematical Formulation</a:t>
            </a:r>
            <a:endParaRPr lang="en-US" dirty="0"/>
          </a:p>
        </p:txBody>
      </p:sp>
      <p:sp>
        <p:nvSpPr>
          <p:cNvPr id="3" name="Content Placeholder 2">
            <a:extLst>
              <a:ext uri="{FF2B5EF4-FFF2-40B4-BE49-F238E27FC236}">
                <a16:creationId xmlns:a16="http://schemas.microsoft.com/office/drawing/2014/main" id="{5156A3C9-DCA5-2E0F-4E5C-92D2DCEE0223}"/>
              </a:ext>
            </a:extLst>
          </p:cNvPr>
          <p:cNvSpPr>
            <a:spLocks noGrp="1"/>
          </p:cNvSpPr>
          <p:nvPr>
            <p:ph idx="1"/>
          </p:nvPr>
        </p:nvSpPr>
        <p:spPr>
          <a:xfrm>
            <a:off x="838200" y="1619167"/>
            <a:ext cx="10515600" cy="5233653"/>
          </a:xfrm>
        </p:spPr>
        <p:txBody>
          <a:bodyPr vert="horz" lIns="91440" tIns="45720" rIns="91440" bIns="45720" rtlCol="0" anchor="t">
            <a:normAutofit/>
          </a:bodyPr>
          <a:lstStyle/>
          <a:p>
            <a:pPr algn="just">
              <a:lnSpc>
                <a:spcPct val="70000"/>
              </a:lnSpc>
            </a:pPr>
            <a:r>
              <a:rPr lang="en-US" sz="2200" i="1" dirty="0">
                <a:latin typeface="Times New Roman"/>
                <a:ea typeface="+mn-lt"/>
                <a:cs typeface="+mn-lt"/>
              </a:rPr>
              <a:t>Our model is predicated on the theory of discrete-time stochastic processes. We hypothesize that the sequence of locations visited by a customer, c0, c1, c2, etc., constitutes a Markov chain.</a:t>
            </a:r>
            <a:endParaRPr lang="en-US" sz="2200" dirty="0">
              <a:latin typeface="Times New Roman"/>
              <a:ea typeface="+mn-lt"/>
              <a:cs typeface="+mn-lt"/>
            </a:endParaRPr>
          </a:p>
          <a:p>
            <a:pPr marL="0" indent="0" algn="just">
              <a:lnSpc>
                <a:spcPct val="70000"/>
              </a:lnSpc>
              <a:buNone/>
            </a:pPr>
            <a:r>
              <a:rPr lang="en-US" sz="2200" b="1" i="1" dirty="0">
                <a:latin typeface="Times New Roman"/>
                <a:ea typeface="+mn-lt"/>
                <a:cs typeface="+mn-lt"/>
              </a:rPr>
              <a:t>The Markov Property:</a:t>
            </a:r>
            <a:r>
              <a:rPr lang="en-US" sz="2200" i="1" dirty="0">
                <a:latin typeface="Times New Roman"/>
                <a:ea typeface="+mn-lt"/>
                <a:cs typeface="+mn-lt"/>
              </a:rPr>
              <a:t> </a:t>
            </a:r>
            <a:endParaRPr lang="en-US" sz="2200" dirty="0">
              <a:latin typeface="Times New Roman"/>
              <a:ea typeface="+mn-lt"/>
              <a:cs typeface="+mn-lt"/>
            </a:endParaRPr>
          </a:p>
          <a:p>
            <a:pPr algn="just">
              <a:lnSpc>
                <a:spcPct val="70000"/>
              </a:lnSpc>
            </a:pPr>
            <a:r>
              <a:rPr lang="en-US" sz="2200" i="1" dirty="0">
                <a:latin typeface="Times New Roman"/>
                <a:ea typeface="+mn-lt"/>
                <a:cs typeface="+mn-lt"/>
              </a:rPr>
              <a:t>The fundamental assumption is that the future state is conditionally independent of the past, given the present state. Formally, for any time step t and sequence of states: </a:t>
            </a:r>
            <a:endParaRPr lang="en-US" sz="2200" dirty="0">
              <a:latin typeface="Times New Roman"/>
              <a:cs typeface="Times New Roman"/>
            </a:endParaRPr>
          </a:p>
          <a:p>
            <a:pPr marL="0" indent="0" algn="just">
              <a:buNone/>
            </a:pPr>
            <a:r>
              <a:rPr lang="en-US" sz="2200" b="1" i="1" dirty="0">
                <a:latin typeface="Times New Roman"/>
                <a:cs typeface="Arial"/>
              </a:rPr>
              <a:t>                  P(X</a:t>
            </a:r>
            <a:r>
              <a:rPr lang="en-US" sz="2200" i="1" baseline="-25000" dirty="0">
                <a:latin typeface="Times New Roman"/>
                <a:cs typeface="Arial"/>
              </a:rPr>
              <a:t>t+1</a:t>
            </a:r>
            <a:r>
              <a:rPr lang="en-US" sz="2200" i="1" dirty="0">
                <a:latin typeface="Times New Roman"/>
                <a:cs typeface="Arial"/>
              </a:rPr>
              <a:t>=</a:t>
            </a:r>
            <a:r>
              <a:rPr lang="en-US" sz="2200" i="1" dirty="0" err="1">
                <a:latin typeface="Times New Roman"/>
                <a:cs typeface="Arial"/>
              </a:rPr>
              <a:t>s</a:t>
            </a:r>
            <a:r>
              <a:rPr lang="en-US" sz="2200" i="1" baseline="-25000" dirty="0" err="1">
                <a:latin typeface="Times New Roman"/>
                <a:cs typeface="Arial"/>
              </a:rPr>
              <a:t>j</a:t>
            </a:r>
            <a:r>
              <a:rPr lang="en-US" sz="2200" i="1" dirty="0">
                <a:latin typeface="Times New Roman"/>
                <a:cs typeface="Arial"/>
              </a:rPr>
              <a:t> ∣</a:t>
            </a:r>
            <a:r>
              <a:rPr lang="en-US" sz="2200" i="1" dirty="0" err="1">
                <a:latin typeface="Times New Roman"/>
                <a:cs typeface="Arial"/>
              </a:rPr>
              <a:t>X</a:t>
            </a:r>
            <a:r>
              <a:rPr lang="en-US" sz="2200" i="1" baseline="-25000" dirty="0" err="1">
                <a:latin typeface="Times New Roman"/>
                <a:cs typeface="Arial"/>
              </a:rPr>
              <a:t>t</a:t>
            </a:r>
            <a:r>
              <a:rPr lang="en-US" sz="2200" i="1" dirty="0">
                <a:latin typeface="Times New Roman"/>
                <a:cs typeface="Arial"/>
              </a:rPr>
              <a:t> =</a:t>
            </a:r>
            <a:r>
              <a:rPr lang="en-US" sz="2200" i="1" dirty="0" err="1">
                <a:latin typeface="Times New Roman"/>
                <a:cs typeface="Arial"/>
              </a:rPr>
              <a:t>s</a:t>
            </a:r>
            <a:r>
              <a:rPr lang="en-US" sz="2200" i="1" baseline="-25000" dirty="0" err="1">
                <a:latin typeface="Times New Roman"/>
                <a:cs typeface="Arial"/>
              </a:rPr>
              <a:t>i</a:t>
            </a:r>
            <a:r>
              <a:rPr lang="en-US" sz="2200" i="1" dirty="0">
                <a:latin typeface="Times New Roman"/>
                <a:cs typeface="Arial"/>
              </a:rPr>
              <a:t> ,X</a:t>
            </a:r>
            <a:r>
              <a:rPr lang="en-US" sz="2200" i="1" baseline="-25000" dirty="0">
                <a:latin typeface="Times New Roman"/>
                <a:cs typeface="Arial"/>
              </a:rPr>
              <a:t>t-1</a:t>
            </a:r>
            <a:r>
              <a:rPr lang="en-US" sz="2200" i="1" dirty="0">
                <a:latin typeface="Times New Roman"/>
                <a:cs typeface="Arial"/>
              </a:rPr>
              <a:t>=s</a:t>
            </a:r>
            <a:r>
              <a:rPr lang="en-US" sz="2200" i="1" baseline="-25000" dirty="0">
                <a:latin typeface="Times New Roman"/>
                <a:cs typeface="Arial"/>
              </a:rPr>
              <a:t>i-1 </a:t>
            </a:r>
            <a:r>
              <a:rPr lang="en-US" sz="2200" i="1" dirty="0">
                <a:latin typeface="Times New Roman"/>
                <a:cs typeface="Arial"/>
              </a:rPr>
              <a:t>,…,X</a:t>
            </a:r>
            <a:r>
              <a:rPr lang="en-US" sz="2200" i="1" baseline="-25000" dirty="0">
                <a:latin typeface="Times New Roman"/>
                <a:cs typeface="Arial"/>
              </a:rPr>
              <a:t>0</a:t>
            </a:r>
            <a:r>
              <a:rPr lang="en-US" sz="2200" i="1" dirty="0">
                <a:latin typeface="Times New Roman"/>
                <a:cs typeface="Arial"/>
              </a:rPr>
              <a:t> =s</a:t>
            </a:r>
            <a:r>
              <a:rPr lang="en-US" sz="2200" i="1" baseline="-25000" dirty="0">
                <a:latin typeface="Times New Roman"/>
                <a:cs typeface="Arial"/>
              </a:rPr>
              <a:t>0</a:t>
            </a:r>
            <a:r>
              <a:rPr lang="en-US" sz="2200" i="1" dirty="0">
                <a:latin typeface="Times New Roman"/>
                <a:cs typeface="Arial"/>
              </a:rPr>
              <a:t> )=P(X</a:t>
            </a:r>
            <a:r>
              <a:rPr lang="en-US" sz="2200" i="1" baseline="-25000" dirty="0">
                <a:latin typeface="Times New Roman"/>
                <a:cs typeface="Arial"/>
              </a:rPr>
              <a:t>t+1</a:t>
            </a:r>
            <a:r>
              <a:rPr lang="en-US" sz="2200" i="1" dirty="0">
                <a:latin typeface="Times New Roman"/>
                <a:cs typeface="Arial"/>
              </a:rPr>
              <a:t> =</a:t>
            </a:r>
            <a:r>
              <a:rPr lang="en-US" sz="2200" i="1" dirty="0" err="1">
                <a:latin typeface="Times New Roman"/>
                <a:cs typeface="Arial"/>
              </a:rPr>
              <a:t>s</a:t>
            </a:r>
            <a:r>
              <a:rPr lang="en-US" sz="2200" i="1" baseline="-25000" dirty="0" err="1">
                <a:latin typeface="Times New Roman"/>
                <a:cs typeface="Arial"/>
              </a:rPr>
              <a:t>j</a:t>
            </a:r>
            <a:r>
              <a:rPr lang="en-US" sz="2200" i="1" dirty="0">
                <a:latin typeface="Times New Roman"/>
                <a:cs typeface="Arial"/>
              </a:rPr>
              <a:t> ∣</a:t>
            </a:r>
            <a:r>
              <a:rPr lang="en-US" sz="2200" i="1" dirty="0" err="1">
                <a:latin typeface="Times New Roman"/>
                <a:cs typeface="Arial"/>
              </a:rPr>
              <a:t>X</a:t>
            </a:r>
            <a:r>
              <a:rPr lang="en-US" sz="2200" i="1" baseline="-25000" dirty="0" err="1">
                <a:latin typeface="Times New Roman"/>
                <a:cs typeface="Arial"/>
              </a:rPr>
              <a:t>t</a:t>
            </a:r>
            <a:r>
              <a:rPr lang="en-US" sz="2200" i="1" dirty="0">
                <a:latin typeface="Times New Roman"/>
                <a:cs typeface="Arial"/>
              </a:rPr>
              <a:t> =</a:t>
            </a:r>
            <a:r>
              <a:rPr lang="en-US" sz="2200" i="1" dirty="0" err="1">
                <a:latin typeface="Times New Roman"/>
                <a:cs typeface="Arial"/>
              </a:rPr>
              <a:t>s</a:t>
            </a:r>
            <a:r>
              <a:rPr lang="en-US" sz="2200" i="1" baseline="-25000" dirty="0" err="1">
                <a:latin typeface="Times New Roman"/>
                <a:cs typeface="Arial"/>
              </a:rPr>
              <a:t>i</a:t>
            </a:r>
            <a:r>
              <a:rPr lang="en-US" sz="2200" i="1" dirty="0">
                <a:latin typeface="Times New Roman"/>
                <a:cs typeface="Arial"/>
              </a:rPr>
              <a:t> )</a:t>
            </a:r>
            <a:endParaRPr lang="en-US" sz="2200" i="1" dirty="0">
              <a:latin typeface="Times New Roman"/>
              <a:cs typeface="Times New Roman"/>
            </a:endParaRPr>
          </a:p>
          <a:p>
            <a:pPr algn="just">
              <a:lnSpc>
                <a:spcPct val="70000"/>
              </a:lnSpc>
            </a:pPr>
            <a:endParaRPr lang="en-US" sz="2200" b="1" i="1" dirty="0">
              <a:latin typeface="Times New Roman"/>
              <a:cs typeface="Times New Roman"/>
            </a:endParaRPr>
          </a:p>
          <a:p>
            <a:pPr marL="0" indent="0" algn="just">
              <a:lnSpc>
                <a:spcPct val="70000"/>
              </a:lnSpc>
              <a:buNone/>
            </a:pPr>
            <a:r>
              <a:rPr lang="en-US" sz="2200" b="1" i="1" dirty="0">
                <a:latin typeface="Times New Roman"/>
                <a:ea typeface="+mn-lt"/>
                <a:cs typeface="+mn-lt"/>
              </a:rPr>
              <a:t>State Space (S):</a:t>
            </a:r>
            <a:endParaRPr lang="en-US" sz="2200" dirty="0">
              <a:latin typeface="Times New Roman"/>
              <a:ea typeface="+mn-lt"/>
              <a:cs typeface="+mn-lt"/>
            </a:endParaRPr>
          </a:p>
          <a:p>
            <a:pPr algn="just">
              <a:lnSpc>
                <a:spcPct val="70000"/>
              </a:lnSpc>
            </a:pPr>
            <a:r>
              <a:rPr lang="en-US" sz="2200" i="1" dirty="0">
                <a:latin typeface="Times New Roman"/>
                <a:ea typeface="+mn-lt"/>
                <a:cs typeface="+mn-lt"/>
              </a:rPr>
              <a:t> The set of discrete, mutually exclusive locations within the supermarket defines our state space: </a:t>
            </a:r>
            <a:endParaRPr lang="en-US" sz="2200" dirty="0">
              <a:latin typeface="Times New Roman"/>
              <a:ea typeface="+mn-lt"/>
              <a:cs typeface="+mn-lt"/>
            </a:endParaRPr>
          </a:p>
          <a:p>
            <a:pPr marL="0" indent="0" algn="just">
              <a:lnSpc>
                <a:spcPct val="70000"/>
              </a:lnSpc>
              <a:buNone/>
            </a:pPr>
            <a:r>
              <a:rPr lang="en-US" sz="2200" b="1" i="1" dirty="0">
                <a:latin typeface="Times New Roman"/>
                <a:ea typeface="+mn-lt"/>
                <a:cs typeface="+mn-lt"/>
              </a:rPr>
              <a:t>   S = {entry, dairy, spices, drinks, fruit, checkout}</a:t>
            </a:r>
          </a:p>
          <a:p>
            <a:pPr algn="just"/>
            <a:endParaRPr lang="en-US" sz="2500" i="1" dirty="0">
              <a:latin typeface="Georgia Pro"/>
            </a:endParaRPr>
          </a:p>
          <a:p>
            <a:endParaRPr lang="en-US" i="1" dirty="0">
              <a:latin typeface="Georgia Pro"/>
            </a:endParaRPr>
          </a:p>
        </p:txBody>
      </p:sp>
      <p:sp>
        <p:nvSpPr>
          <p:cNvPr id="4" name="Rectangle 3">
            <a:extLst>
              <a:ext uri="{FF2B5EF4-FFF2-40B4-BE49-F238E27FC236}">
                <a16:creationId xmlns:a16="http://schemas.microsoft.com/office/drawing/2014/main" id="{5DF5F99C-1040-DE46-C15C-F74DF99FD280}"/>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549807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3535E-5ED5-A610-916A-6D4A06A4CBA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873CB0-695D-9E7D-CAA8-DCE6737282E3}"/>
              </a:ext>
            </a:extLst>
          </p:cNvPr>
          <p:cNvSpPr>
            <a:spLocks noGrp="1"/>
          </p:cNvSpPr>
          <p:nvPr>
            <p:ph idx="1"/>
          </p:nvPr>
        </p:nvSpPr>
        <p:spPr>
          <a:xfrm>
            <a:off x="838200" y="1103934"/>
            <a:ext cx="10515600" cy="4251075"/>
          </a:xfrm>
        </p:spPr>
        <p:txBody>
          <a:bodyPr vert="horz" lIns="91440" tIns="45720" rIns="91440" bIns="45720" rtlCol="0" anchor="t">
            <a:normAutofit/>
          </a:bodyPr>
          <a:lstStyle/>
          <a:p>
            <a:pPr marL="0" indent="0" algn="just">
              <a:buNone/>
            </a:pPr>
            <a:r>
              <a:rPr lang="en-US" sz="2200" b="1" i="1" dirty="0">
                <a:latin typeface="Times New Roman"/>
                <a:ea typeface="+mn-lt"/>
                <a:cs typeface="+mn-lt"/>
              </a:rPr>
              <a:t>Transition Matrix:</a:t>
            </a:r>
          </a:p>
          <a:p>
            <a:pPr algn="just"/>
            <a:r>
              <a:rPr lang="en-US" sz="2200" i="1" dirty="0">
                <a:latin typeface="Times New Roman"/>
                <a:ea typeface="+mn-lt"/>
                <a:cs typeface="+mn-lt"/>
              </a:rPr>
              <a:t>The system's dynamics are governed by the transition matrix P, a n x n matrix where each element </a:t>
            </a:r>
            <a:r>
              <a:rPr lang="en-US" sz="2200" dirty="0" err="1">
                <a:latin typeface="Times New Roman"/>
                <a:ea typeface="+mn-lt"/>
                <a:cs typeface="+mn-lt"/>
              </a:rPr>
              <a:t>P</a:t>
            </a:r>
            <a:r>
              <a:rPr lang="en-US" sz="2200" baseline="-25000" dirty="0" err="1">
                <a:latin typeface="Times New Roman"/>
                <a:ea typeface="+mn-lt"/>
                <a:cs typeface="+mn-lt"/>
              </a:rPr>
              <a:t>ij</a:t>
            </a:r>
            <a:r>
              <a:rPr lang="en-US" sz="2200" i="1" baseline="-25000" dirty="0">
                <a:latin typeface="Times New Roman"/>
                <a:ea typeface="+mn-lt"/>
                <a:cs typeface="+mn-lt"/>
              </a:rPr>
              <a:t> </a:t>
            </a:r>
            <a:r>
              <a:rPr lang="en-US" sz="2200" i="1" dirty="0">
                <a:latin typeface="Times New Roman"/>
                <a:ea typeface="+mn-lt"/>
                <a:cs typeface="+mn-lt"/>
              </a:rPr>
              <a:t>represents the stationary probability of transitioning from state </a:t>
            </a:r>
            <a:r>
              <a:rPr lang="en-US" sz="2200" dirty="0" err="1">
                <a:latin typeface="Times New Roman"/>
                <a:ea typeface="+mn-lt"/>
                <a:cs typeface="+mn-lt"/>
              </a:rPr>
              <a:t>s</a:t>
            </a:r>
            <a:r>
              <a:rPr lang="en-US" sz="2200" baseline="-25000" dirty="0" err="1">
                <a:latin typeface="Times New Roman"/>
                <a:ea typeface="+mn-lt"/>
                <a:cs typeface="+mn-lt"/>
              </a:rPr>
              <a:t>i</a:t>
            </a:r>
            <a:r>
              <a:rPr lang="en-US" sz="2200" i="1" dirty="0">
                <a:latin typeface="Times New Roman"/>
                <a:ea typeface="+mn-lt"/>
                <a:cs typeface="+mn-lt"/>
              </a:rPr>
              <a:t> to state </a:t>
            </a:r>
            <a:r>
              <a:rPr lang="en-US" sz="2200" dirty="0" err="1">
                <a:latin typeface="Times New Roman"/>
                <a:ea typeface="+mn-lt"/>
                <a:cs typeface="+mn-lt"/>
              </a:rPr>
              <a:t>s</a:t>
            </a:r>
            <a:r>
              <a:rPr lang="en-US" sz="2200" baseline="-25000" dirty="0" err="1">
                <a:latin typeface="Times New Roman"/>
                <a:ea typeface="+mn-lt"/>
                <a:cs typeface="+mn-lt"/>
              </a:rPr>
              <a:t>j</a:t>
            </a:r>
            <a:r>
              <a:rPr lang="en-US" sz="2200" i="1" dirty="0">
                <a:latin typeface="Times New Roman"/>
                <a:ea typeface="+mn-lt"/>
                <a:cs typeface="+mn-lt"/>
              </a:rPr>
              <a:t>: </a:t>
            </a:r>
            <a:endParaRPr lang="en-US" sz="2200" dirty="0">
              <a:latin typeface="Times New Roman"/>
              <a:cs typeface="Times New Roman"/>
            </a:endParaRPr>
          </a:p>
          <a:p>
            <a:pPr marL="0" indent="0" algn="just">
              <a:buNone/>
            </a:pPr>
            <a:r>
              <a:rPr lang="en-US" sz="2200" i="1" dirty="0">
                <a:latin typeface="Times New Roman"/>
                <a:ea typeface="+mn-lt"/>
                <a:cs typeface="Times New Roman"/>
              </a:rPr>
              <a:t>                                                     </a:t>
            </a:r>
            <a:r>
              <a:rPr lang="en-US" sz="2200" i="1" dirty="0" err="1">
                <a:latin typeface="Times New Roman"/>
                <a:ea typeface="+mn-lt"/>
                <a:cs typeface="Times New Roman"/>
              </a:rPr>
              <a:t>P</a:t>
            </a:r>
            <a:r>
              <a:rPr lang="en-US" sz="2200" i="1" baseline="-25000" dirty="0" err="1">
                <a:latin typeface="Times New Roman"/>
                <a:ea typeface="+mn-lt"/>
                <a:cs typeface="Times New Roman"/>
              </a:rPr>
              <a:t>ij</a:t>
            </a:r>
            <a:r>
              <a:rPr lang="en-US" sz="2200" i="1" dirty="0">
                <a:latin typeface="Times New Roman"/>
                <a:ea typeface="+mn-lt"/>
                <a:cs typeface="Times New Roman"/>
              </a:rPr>
              <a:t> =P(X</a:t>
            </a:r>
            <a:r>
              <a:rPr lang="en-US" sz="2200" i="1" baseline="-25000" dirty="0">
                <a:latin typeface="Times New Roman"/>
                <a:ea typeface="+mn-lt"/>
                <a:cs typeface="Times New Roman"/>
              </a:rPr>
              <a:t>t+1</a:t>
            </a:r>
            <a:r>
              <a:rPr lang="en-US" sz="2200" i="1" dirty="0">
                <a:latin typeface="Times New Roman"/>
                <a:ea typeface="+mn-lt"/>
                <a:cs typeface="Times New Roman"/>
              </a:rPr>
              <a:t> =</a:t>
            </a:r>
            <a:r>
              <a:rPr lang="en-US" sz="2200" i="1" dirty="0" err="1">
                <a:latin typeface="Times New Roman"/>
                <a:ea typeface="+mn-lt"/>
                <a:cs typeface="Times New Roman"/>
              </a:rPr>
              <a:t>s</a:t>
            </a:r>
            <a:r>
              <a:rPr lang="en-US" sz="2200" i="1" baseline="-25000" dirty="0" err="1">
                <a:latin typeface="Times New Roman"/>
                <a:ea typeface="+mn-lt"/>
                <a:cs typeface="Times New Roman"/>
              </a:rPr>
              <a:t>j</a:t>
            </a:r>
            <a:r>
              <a:rPr lang="en-US" sz="2200" i="1" dirty="0">
                <a:latin typeface="Times New Roman"/>
                <a:ea typeface="+mn-lt"/>
                <a:cs typeface="Times New Roman"/>
              </a:rPr>
              <a:t> ∣ </a:t>
            </a:r>
            <a:r>
              <a:rPr lang="en-US" sz="2200" i="1" dirty="0" err="1">
                <a:latin typeface="Times New Roman"/>
                <a:ea typeface="+mn-lt"/>
                <a:cs typeface="Times New Roman"/>
              </a:rPr>
              <a:t>X</a:t>
            </a:r>
            <a:r>
              <a:rPr lang="en-US" sz="2200" i="1" baseline="-25000" dirty="0" err="1">
                <a:latin typeface="Times New Roman"/>
                <a:ea typeface="+mn-lt"/>
                <a:cs typeface="Times New Roman"/>
              </a:rPr>
              <a:t>t</a:t>
            </a:r>
            <a:r>
              <a:rPr lang="en-US" sz="2200" i="1" dirty="0">
                <a:latin typeface="Times New Roman"/>
                <a:ea typeface="+mn-lt"/>
                <a:cs typeface="Times New Roman"/>
              </a:rPr>
              <a:t> =</a:t>
            </a:r>
            <a:r>
              <a:rPr lang="en-US" sz="2200" i="1" dirty="0" err="1">
                <a:latin typeface="Times New Roman"/>
                <a:ea typeface="+mn-lt"/>
                <a:cs typeface="Times New Roman"/>
              </a:rPr>
              <a:t>s</a:t>
            </a:r>
            <a:r>
              <a:rPr lang="en-US" sz="2200" i="1" baseline="-25000" dirty="0" err="1">
                <a:latin typeface="Times New Roman"/>
                <a:ea typeface="+mn-lt"/>
                <a:cs typeface="Times New Roman"/>
              </a:rPr>
              <a:t>i</a:t>
            </a:r>
            <a:r>
              <a:rPr lang="en-US" sz="2200" i="1" dirty="0">
                <a:latin typeface="Times New Roman"/>
                <a:ea typeface="+mn-lt"/>
                <a:cs typeface="Times New Roman"/>
              </a:rPr>
              <a:t> )</a:t>
            </a:r>
            <a:endParaRPr lang="en-US" sz="2200" dirty="0">
              <a:latin typeface="Times New Roman"/>
              <a:cs typeface="Times New Roman"/>
            </a:endParaRPr>
          </a:p>
          <a:p>
            <a:pPr algn="just"/>
            <a:r>
              <a:rPr lang="en-US" sz="2200" i="1" dirty="0">
                <a:latin typeface="Times New Roman"/>
                <a:cs typeface="Times New Roman"/>
              </a:rPr>
              <a:t>The matrix </a:t>
            </a:r>
            <a:r>
              <a:rPr lang="en-US" sz="2200" dirty="0">
                <a:latin typeface="Times New Roman"/>
                <a:cs typeface="Times New Roman"/>
              </a:rPr>
              <a:t>P</a:t>
            </a:r>
            <a:r>
              <a:rPr lang="en-US" sz="2200" i="1" dirty="0">
                <a:latin typeface="Times New Roman"/>
                <a:cs typeface="Times New Roman"/>
              </a:rPr>
              <a:t> is a stochastic matrix, meaning every element </a:t>
            </a:r>
            <a:r>
              <a:rPr lang="en-US" sz="2200" dirty="0" err="1">
                <a:latin typeface="Times New Roman"/>
                <a:cs typeface="Times New Roman"/>
              </a:rPr>
              <a:t>P</a:t>
            </a:r>
            <a:r>
              <a:rPr lang="en-US" sz="2200" baseline="-25000" dirty="0" err="1">
                <a:latin typeface="Times New Roman"/>
                <a:cs typeface="Times New Roman"/>
              </a:rPr>
              <a:t>ij</a:t>
            </a:r>
            <a:r>
              <a:rPr lang="en-US" sz="2200" i="1" dirty="0">
                <a:latin typeface="Times New Roman"/>
                <a:cs typeface="Times New Roman"/>
              </a:rPr>
              <a:t> in </a:t>
            </a:r>
            <a:r>
              <a:rPr lang="en-US" sz="2200" dirty="0">
                <a:latin typeface="Times New Roman"/>
                <a:cs typeface="Times New Roman"/>
              </a:rPr>
              <a:t>[0,1] </a:t>
            </a:r>
            <a:r>
              <a:rPr lang="en-US" sz="2200" i="1" dirty="0">
                <a:latin typeface="Times New Roman"/>
                <a:cs typeface="Times New Roman"/>
              </a:rPr>
              <a:t>and each row sums to 1: </a:t>
            </a:r>
          </a:p>
          <a:p>
            <a:pPr marL="0" indent="0" algn="just">
              <a:buNone/>
            </a:pPr>
            <a:r>
              <a:rPr lang="en-US" sz="2200" dirty="0">
                <a:latin typeface="Times New Roman"/>
                <a:cs typeface="Times New Roman"/>
              </a:rPr>
              <a:t>                                                     ∑</a:t>
            </a:r>
            <a:r>
              <a:rPr lang="en-US" sz="2200" baseline="30000" dirty="0">
                <a:latin typeface="Times New Roman"/>
                <a:cs typeface="Times New Roman"/>
              </a:rPr>
              <a:t>j=1</a:t>
            </a:r>
            <a:r>
              <a:rPr lang="en-US" sz="2200" baseline="-25000" dirty="0">
                <a:latin typeface="Times New Roman"/>
                <a:cs typeface="Times New Roman"/>
              </a:rPr>
              <a:t>n</a:t>
            </a:r>
            <a:r>
              <a:rPr lang="en-US" sz="2200" dirty="0">
                <a:latin typeface="Times New Roman"/>
                <a:cs typeface="Times New Roman"/>
              </a:rPr>
              <a:t> </a:t>
            </a:r>
            <a:r>
              <a:rPr lang="en-US" sz="2200" dirty="0" err="1">
                <a:latin typeface="Times New Roman"/>
                <a:cs typeface="Times New Roman"/>
              </a:rPr>
              <a:t>P</a:t>
            </a:r>
            <a:r>
              <a:rPr lang="en-US" sz="2200" baseline="-25000" dirty="0" err="1">
                <a:latin typeface="Times New Roman"/>
                <a:cs typeface="Times New Roman"/>
              </a:rPr>
              <a:t>ij</a:t>
            </a:r>
            <a:r>
              <a:rPr lang="en-US" sz="2200" dirty="0">
                <a:latin typeface="Times New Roman"/>
                <a:cs typeface="Times New Roman"/>
              </a:rPr>
              <a:t> =1   ∀ </a:t>
            </a:r>
            <a:r>
              <a:rPr lang="en-US" sz="2200" dirty="0" err="1">
                <a:latin typeface="Times New Roman"/>
                <a:cs typeface="Times New Roman"/>
              </a:rPr>
              <a:t>i</a:t>
            </a:r>
            <a:r>
              <a:rPr lang="en-US" sz="2200" dirty="0">
                <a:latin typeface="Times New Roman"/>
                <a:cs typeface="Times New Roman"/>
              </a:rPr>
              <a:t> ∈ {1,…,n}</a:t>
            </a:r>
          </a:p>
          <a:p>
            <a:pPr marL="0" indent="0">
              <a:buNone/>
            </a:pPr>
            <a:endParaRPr lang="en-US" i="1" dirty="0">
              <a:latin typeface="Times New Roman"/>
              <a:cs typeface="Times New Roman"/>
            </a:endParaRPr>
          </a:p>
        </p:txBody>
      </p:sp>
      <p:sp>
        <p:nvSpPr>
          <p:cNvPr id="7" name="Rectangle 6">
            <a:extLst>
              <a:ext uri="{FF2B5EF4-FFF2-40B4-BE49-F238E27FC236}">
                <a16:creationId xmlns:a16="http://schemas.microsoft.com/office/drawing/2014/main" id="{BCE83512-12F4-821F-E9DD-4F3E8412AD91}"/>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B9A6F62C-C06C-FA89-0B97-E2E6500DC611}"/>
              </a:ext>
            </a:extLst>
          </p:cNvPr>
          <p:cNvSpPr/>
          <p:nvPr/>
        </p:nvSpPr>
        <p:spPr>
          <a:xfrm>
            <a:off x="530424" y="4184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157119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6582282-A5CE-F586-42A6-6EF7036ACD41}"/>
              </a:ext>
            </a:extLst>
          </p:cNvPr>
          <p:cNvSpPr>
            <a:spLocks noGrp="1"/>
          </p:cNvSpPr>
          <p:nvPr>
            <p:ph type="title"/>
          </p:nvPr>
        </p:nvSpPr>
        <p:spPr>
          <a:xfrm>
            <a:off x="838200" y="365125"/>
            <a:ext cx="10515600" cy="1325563"/>
          </a:xfrm>
        </p:spPr>
        <p:txBody>
          <a:bodyPr/>
          <a:lstStyle/>
          <a:p>
            <a:r>
              <a:rPr lang="en-US" b="1" i="1">
                <a:latin typeface="Times New Roman"/>
                <a:cs typeface="Times New Roman"/>
              </a:rPr>
              <a:t>Methodology</a:t>
            </a:r>
          </a:p>
        </p:txBody>
      </p:sp>
      <p:sp>
        <p:nvSpPr>
          <p:cNvPr id="7" name="Rectangle 6">
            <a:extLst>
              <a:ext uri="{FF2B5EF4-FFF2-40B4-BE49-F238E27FC236}">
                <a16:creationId xmlns:a16="http://schemas.microsoft.com/office/drawing/2014/main" id="{34DF0227-85EB-E231-AD92-CA69B4089C13}"/>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TextBox 2">
            <a:extLst>
              <a:ext uri="{FF2B5EF4-FFF2-40B4-BE49-F238E27FC236}">
                <a16:creationId xmlns:a16="http://schemas.microsoft.com/office/drawing/2014/main" id="{1B28BE4A-7D6D-CE28-56C5-F3E662991339}"/>
              </a:ext>
            </a:extLst>
          </p:cNvPr>
          <p:cNvSpPr txBox="1"/>
          <p:nvPr/>
        </p:nvSpPr>
        <p:spPr>
          <a:xfrm>
            <a:off x="1730777" y="1628264"/>
            <a:ext cx="9716215"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100" b="1" i="1" dirty="0">
                <a:latin typeface="Times New Roman"/>
                <a:ea typeface="+mn-lt"/>
                <a:cs typeface="+mn-lt"/>
              </a:rPr>
              <a:t>Data Collection &amp; Preprocessing</a:t>
            </a:r>
            <a:endParaRPr lang="en-US" sz="2100" i="1" dirty="0">
              <a:latin typeface="Times New Roman"/>
              <a:cs typeface="Times New Roman"/>
            </a:endParaRPr>
          </a:p>
          <a:p>
            <a:pPr marL="285750" indent="-285750" algn="just">
              <a:buAutoNum type="arabicPeriod"/>
            </a:pPr>
            <a:r>
              <a:rPr lang="en-US" sz="2100" i="1" dirty="0">
                <a:latin typeface="Times New Roman"/>
                <a:ea typeface="+mn-lt"/>
                <a:cs typeface="+mn-lt"/>
              </a:rPr>
              <a:t>Collected customer movement data (</a:t>
            </a:r>
            <a:r>
              <a:rPr lang="en-US" sz="2100" i="1" dirty="0">
                <a:latin typeface="Times New Roman"/>
                <a:cs typeface="Times New Roman"/>
              </a:rPr>
              <a:t>Monday.csv – Friday.csv</a:t>
            </a:r>
            <a:r>
              <a:rPr lang="en-US" sz="2100" i="1" dirty="0">
                <a:latin typeface="Times New Roman"/>
                <a:ea typeface="+mn-lt"/>
                <a:cs typeface="+mn-lt"/>
              </a:rPr>
              <a:t>)</a:t>
            </a:r>
            <a:endParaRPr lang="en-US" sz="2100" i="1" dirty="0">
              <a:latin typeface="Times New Roman"/>
              <a:cs typeface="Times New Roman"/>
            </a:endParaRPr>
          </a:p>
          <a:p>
            <a:pPr marL="285750" indent="-285750" algn="just">
              <a:buAutoNum type="arabicPeriod"/>
            </a:pPr>
            <a:r>
              <a:rPr lang="en-US" sz="2100" i="1" dirty="0">
                <a:latin typeface="Times New Roman"/>
                <a:ea typeface="+mn-lt"/>
                <a:cs typeface="+mn-lt"/>
              </a:rPr>
              <a:t>Assigned unique customer IDs across days</a:t>
            </a:r>
            <a:endParaRPr lang="en-US" sz="2100" i="1" dirty="0">
              <a:latin typeface="Times New Roman"/>
              <a:cs typeface="Times New Roman"/>
            </a:endParaRPr>
          </a:p>
          <a:p>
            <a:pPr marL="285750" indent="-285750" algn="just">
              <a:buAutoNum type="arabicPeriod"/>
            </a:pPr>
            <a:r>
              <a:rPr lang="en-US" sz="2100" i="1" dirty="0">
                <a:latin typeface="Times New Roman"/>
                <a:ea typeface="+mn-lt"/>
                <a:cs typeface="+mn-lt"/>
              </a:rPr>
              <a:t>Converted timestamps → entry times</a:t>
            </a:r>
            <a:endParaRPr lang="en-US" sz="2100" i="1" dirty="0">
              <a:latin typeface="Times New Roman"/>
              <a:cs typeface="Times New Roman"/>
            </a:endParaRPr>
          </a:p>
          <a:p>
            <a:pPr marL="285750" indent="-285750" algn="just">
              <a:buAutoNum type="arabicPeriod"/>
            </a:pPr>
            <a:endParaRPr lang="en-US" sz="2100" i="1" dirty="0">
              <a:latin typeface="Times New Roman"/>
              <a:ea typeface="+mn-lt"/>
              <a:cs typeface="+mn-lt"/>
            </a:endParaRPr>
          </a:p>
          <a:p>
            <a:pPr algn="just"/>
            <a:r>
              <a:rPr lang="en-US" sz="2100" b="1" i="1" dirty="0">
                <a:latin typeface="Times New Roman"/>
                <a:ea typeface="+mn-lt"/>
                <a:cs typeface="+mn-lt"/>
              </a:rPr>
              <a:t>Data Cleaning &amp; Preparation</a:t>
            </a:r>
            <a:endParaRPr lang="en-US" sz="2100" i="1" dirty="0">
              <a:latin typeface="Times New Roman"/>
              <a:cs typeface="Times New Roman"/>
            </a:endParaRPr>
          </a:p>
          <a:p>
            <a:pPr marL="285750" indent="-285750" algn="just">
              <a:buAutoNum type="arabicPeriod"/>
            </a:pPr>
            <a:r>
              <a:rPr lang="en-US" sz="2100" i="1" dirty="0">
                <a:latin typeface="Times New Roman"/>
                <a:ea typeface="+mn-lt"/>
                <a:cs typeface="+mn-lt"/>
              </a:rPr>
              <a:t>Merged daily files into a single dataset</a:t>
            </a:r>
            <a:endParaRPr lang="en-US" sz="2100" i="1" dirty="0">
              <a:latin typeface="Times New Roman"/>
              <a:cs typeface="Times New Roman"/>
            </a:endParaRPr>
          </a:p>
          <a:p>
            <a:pPr marL="285750" indent="-285750" algn="just">
              <a:buAutoNum type="arabicPeriod"/>
            </a:pPr>
            <a:r>
              <a:rPr lang="en-US" sz="2100" i="1" dirty="0">
                <a:latin typeface="Times New Roman"/>
                <a:ea typeface="+mn-lt"/>
                <a:cs typeface="+mn-lt"/>
              </a:rPr>
              <a:t>Identified and fixed missing checkout records</a:t>
            </a:r>
            <a:endParaRPr lang="en-US" sz="2100" i="1" dirty="0">
              <a:latin typeface="Times New Roman"/>
              <a:cs typeface="Times New Roman"/>
            </a:endParaRPr>
          </a:p>
          <a:p>
            <a:pPr marL="285750" indent="-285750" algn="just">
              <a:buAutoNum type="arabicPeriod"/>
            </a:pPr>
            <a:r>
              <a:rPr lang="en-US" sz="2100" i="1" dirty="0">
                <a:latin typeface="Times New Roman"/>
                <a:ea typeface="+mn-lt"/>
                <a:cs typeface="+mn-lt"/>
              </a:rPr>
              <a:t>Extracted hourly and section-wise customer statistics</a:t>
            </a:r>
          </a:p>
          <a:p>
            <a:pPr marL="285750" indent="-285750" algn="just">
              <a:buAutoNum type="arabicPeriod"/>
            </a:pPr>
            <a:endParaRPr lang="en-US" sz="2100" i="1" dirty="0">
              <a:latin typeface="Times New Roman"/>
              <a:ea typeface="+mn-lt"/>
              <a:cs typeface="+mn-lt"/>
            </a:endParaRPr>
          </a:p>
          <a:p>
            <a:pPr algn="just"/>
            <a:r>
              <a:rPr lang="en-US" sz="2100" b="1" i="1" dirty="0">
                <a:latin typeface="Times New Roman"/>
                <a:ea typeface="+mn-lt"/>
                <a:cs typeface="+mn-lt"/>
              </a:rPr>
              <a:t>Path Construction</a:t>
            </a:r>
            <a:endParaRPr lang="en-US" sz="2100" i="1" dirty="0">
              <a:latin typeface="Times New Roman"/>
              <a:cs typeface="Times New Roman"/>
            </a:endParaRPr>
          </a:p>
          <a:p>
            <a:pPr marL="285750" indent="-285750" algn="just">
              <a:buAutoNum type="arabicPeriod"/>
            </a:pPr>
            <a:r>
              <a:rPr lang="en-US" sz="2100" i="1" dirty="0">
                <a:latin typeface="Times New Roman"/>
                <a:ea typeface="+mn-lt"/>
                <a:cs typeface="+mn-lt"/>
              </a:rPr>
              <a:t>Encoded customer movement into section letters (e.g., Dairy → </a:t>
            </a:r>
            <a:r>
              <a:rPr lang="en-US" sz="2100" i="1" dirty="0">
                <a:latin typeface="Times New Roman"/>
                <a:cs typeface="Times New Roman"/>
              </a:rPr>
              <a:t>d</a:t>
            </a:r>
            <a:r>
              <a:rPr lang="en-US" sz="2100" i="1" dirty="0">
                <a:latin typeface="Times New Roman"/>
                <a:ea typeface="+mn-lt"/>
                <a:cs typeface="+mn-lt"/>
              </a:rPr>
              <a:t>)</a:t>
            </a:r>
            <a:endParaRPr lang="en-US" sz="2100" i="1" dirty="0">
              <a:latin typeface="Times New Roman"/>
              <a:cs typeface="Times New Roman"/>
            </a:endParaRPr>
          </a:p>
          <a:p>
            <a:pPr marL="285750" indent="-285750" algn="just">
              <a:buAutoNum type="arabicPeriod"/>
            </a:pPr>
            <a:r>
              <a:rPr lang="en-US" sz="2100" i="1" dirty="0">
                <a:latin typeface="Times New Roman"/>
                <a:ea typeface="+mn-lt"/>
                <a:cs typeface="+mn-lt"/>
              </a:rPr>
              <a:t>Added entry (</a:t>
            </a:r>
            <a:r>
              <a:rPr lang="en-US" sz="2100" i="1" dirty="0">
                <a:latin typeface="Times New Roman"/>
                <a:cs typeface="Times New Roman"/>
              </a:rPr>
              <a:t>e</a:t>
            </a:r>
            <a:r>
              <a:rPr lang="en-US" sz="2100" i="1" dirty="0">
                <a:latin typeface="Times New Roman"/>
                <a:ea typeface="+mn-lt"/>
                <a:cs typeface="+mn-lt"/>
              </a:rPr>
              <a:t>) and absorbing checkout (</a:t>
            </a:r>
            <a:r>
              <a:rPr lang="en-US" sz="2100" i="1" dirty="0">
                <a:latin typeface="Times New Roman"/>
                <a:cs typeface="Times New Roman"/>
              </a:rPr>
              <a:t>cc</a:t>
            </a:r>
            <a:r>
              <a:rPr lang="en-US" sz="2100" i="1" dirty="0">
                <a:latin typeface="Times New Roman"/>
                <a:ea typeface="+mn-lt"/>
                <a:cs typeface="+mn-lt"/>
              </a:rPr>
              <a:t>) states</a:t>
            </a:r>
            <a:endParaRPr lang="en-US" sz="2100" i="1" dirty="0">
              <a:latin typeface="Times New Roman"/>
              <a:cs typeface="Times New Roman"/>
            </a:endParaRPr>
          </a:p>
          <a:p>
            <a:pPr marL="285750" indent="-285750" algn="just">
              <a:buAutoNum type="arabicPeriod"/>
            </a:pPr>
            <a:r>
              <a:rPr lang="en-US" sz="2100" i="1" dirty="0">
                <a:latin typeface="Times New Roman"/>
                <a:ea typeface="+mn-lt"/>
                <a:cs typeface="+mn-lt"/>
              </a:rPr>
              <a:t>Generated customer path sequences (</a:t>
            </a:r>
            <a:r>
              <a:rPr lang="en-US" sz="2100" i="1" dirty="0">
                <a:latin typeface="Times New Roman"/>
                <a:cs typeface="Times New Roman"/>
              </a:rPr>
              <a:t>path_data.csv</a:t>
            </a:r>
            <a:r>
              <a:rPr lang="en-US" sz="2100" i="1" dirty="0">
                <a:latin typeface="Times New Roman"/>
                <a:ea typeface="+mn-lt"/>
                <a:cs typeface="+mn-lt"/>
              </a:rPr>
              <a:t>)</a:t>
            </a:r>
            <a:endParaRPr lang="en-US" sz="2100" i="1" dirty="0">
              <a:latin typeface="Times New Roman"/>
              <a:cs typeface="Times New Roman"/>
            </a:endParaRPr>
          </a:p>
          <a:p>
            <a:pPr algn="l"/>
            <a:endParaRPr lang="en-US" dirty="0">
              <a:latin typeface="Times New Roman"/>
              <a:cs typeface="Times New Roman"/>
            </a:endParaRPr>
          </a:p>
        </p:txBody>
      </p:sp>
      <p:sp>
        <p:nvSpPr>
          <p:cNvPr id="6" name="Arrow: Right 5">
            <a:extLst>
              <a:ext uri="{FF2B5EF4-FFF2-40B4-BE49-F238E27FC236}">
                <a16:creationId xmlns:a16="http://schemas.microsoft.com/office/drawing/2014/main" id="{24C52BC5-E994-644F-553A-896FCA516EEC}"/>
              </a:ext>
            </a:extLst>
          </p:cNvPr>
          <p:cNvSpPr/>
          <p:nvPr/>
        </p:nvSpPr>
        <p:spPr>
          <a:xfrm>
            <a:off x="1229227" y="1786814"/>
            <a:ext cx="352675" cy="158704"/>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86D27B01-F0FD-8EBD-7080-0A2221D446C2}"/>
              </a:ext>
            </a:extLst>
          </p:cNvPr>
          <p:cNvSpPr/>
          <p:nvPr/>
        </p:nvSpPr>
        <p:spPr>
          <a:xfrm>
            <a:off x="1227078" y="3347183"/>
            <a:ext cx="352675" cy="158704"/>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396BC743-57FE-9CF8-A7E0-225E1C010B3E}"/>
              </a:ext>
            </a:extLst>
          </p:cNvPr>
          <p:cNvSpPr/>
          <p:nvPr/>
        </p:nvSpPr>
        <p:spPr>
          <a:xfrm>
            <a:off x="1227078" y="5003678"/>
            <a:ext cx="352675" cy="158704"/>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4598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B9FE3-712E-4170-CA11-74F7D482F76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78F445D-97C0-FD0F-51C3-5CD19F469361}"/>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TextBox 2">
            <a:extLst>
              <a:ext uri="{FF2B5EF4-FFF2-40B4-BE49-F238E27FC236}">
                <a16:creationId xmlns:a16="http://schemas.microsoft.com/office/drawing/2014/main" id="{05BC901D-F3DF-67E7-F673-D475A351C4F9}"/>
              </a:ext>
            </a:extLst>
          </p:cNvPr>
          <p:cNvSpPr txBox="1"/>
          <p:nvPr/>
        </p:nvSpPr>
        <p:spPr>
          <a:xfrm>
            <a:off x="1553899" y="940392"/>
            <a:ext cx="9716215" cy="52475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100" b="1" i="1" dirty="0">
                <a:latin typeface="Times New Roman"/>
                <a:ea typeface="+mn-lt"/>
                <a:cs typeface="+mn-lt"/>
              </a:rPr>
              <a:t>Probability Distribution of Arrivals</a:t>
            </a:r>
            <a:endParaRPr lang="en-US" sz="2100" i="1" dirty="0">
              <a:latin typeface="Times New Roman"/>
              <a:cs typeface="Times New Roman"/>
            </a:endParaRPr>
          </a:p>
          <a:p>
            <a:pPr marL="285750" indent="-285750" algn="just">
              <a:buFont typeface="Arial"/>
              <a:buChar char="•"/>
            </a:pPr>
            <a:r>
              <a:rPr lang="en-US" sz="2100" i="1" dirty="0">
                <a:latin typeface="Times New Roman"/>
                <a:ea typeface="+mn-lt"/>
                <a:cs typeface="+mn-lt"/>
              </a:rPr>
              <a:t>Calculated entry frequencies across all days</a:t>
            </a:r>
            <a:endParaRPr lang="en-US" sz="2100" i="1" dirty="0">
              <a:latin typeface="Times New Roman"/>
              <a:cs typeface="Times New Roman"/>
            </a:endParaRPr>
          </a:p>
          <a:p>
            <a:pPr marL="285750" indent="-285750" algn="just">
              <a:buFont typeface="Arial"/>
              <a:buChar char="•"/>
            </a:pPr>
            <a:r>
              <a:rPr lang="en-US" sz="2100" i="1" dirty="0">
                <a:latin typeface="Times New Roman"/>
                <a:ea typeface="+mn-lt"/>
                <a:cs typeface="+mn-lt"/>
              </a:rPr>
              <a:t>Created probability distribution of customer arrivals</a:t>
            </a:r>
            <a:endParaRPr lang="en-US" sz="2100" i="1" dirty="0">
              <a:latin typeface="Times New Roman"/>
              <a:cs typeface="Times New Roman"/>
            </a:endParaRPr>
          </a:p>
          <a:p>
            <a:pPr marL="285750" indent="-285750" algn="just">
              <a:buFont typeface="Arial"/>
              <a:buChar char="•"/>
            </a:pPr>
            <a:r>
              <a:rPr lang="en-US" sz="2100" i="1" dirty="0">
                <a:latin typeface="Times New Roman"/>
                <a:ea typeface="+mn-lt"/>
                <a:cs typeface="+mn-lt"/>
              </a:rPr>
              <a:t>Stored as customer_number_prob.json for simulations</a:t>
            </a:r>
            <a:endParaRPr lang="en-US" sz="2100" i="1" dirty="0">
              <a:latin typeface="Times New Roman"/>
              <a:cs typeface="Times New Roman"/>
            </a:endParaRPr>
          </a:p>
          <a:p>
            <a:pPr algn="just"/>
            <a:endParaRPr lang="en-US" sz="2100" i="1" dirty="0">
              <a:latin typeface="Times New Roman"/>
              <a:ea typeface="+mn-lt"/>
              <a:cs typeface="+mn-lt"/>
            </a:endParaRPr>
          </a:p>
          <a:p>
            <a:pPr algn="just"/>
            <a:r>
              <a:rPr lang="en-US" sz="2100" b="1" i="1" dirty="0">
                <a:latin typeface="Times New Roman"/>
                <a:ea typeface="+mn-lt"/>
                <a:cs typeface="+mn-lt"/>
              </a:rPr>
              <a:t>Markov Chain Modeling</a:t>
            </a:r>
            <a:endParaRPr lang="en-US" sz="2100" i="1" dirty="0">
              <a:latin typeface="Times New Roman"/>
              <a:cs typeface="Times New Roman"/>
            </a:endParaRPr>
          </a:p>
          <a:p>
            <a:pPr marL="285750" indent="-285750" algn="just">
              <a:buFont typeface="Arial"/>
              <a:buChar char="•"/>
            </a:pPr>
            <a:r>
              <a:rPr lang="en-US" sz="2100" i="1" dirty="0">
                <a:latin typeface="Times New Roman"/>
                <a:ea typeface="+mn-lt"/>
                <a:cs typeface="+mn-lt"/>
              </a:rPr>
              <a:t>Built transition matrix from customer paths</a:t>
            </a:r>
            <a:endParaRPr lang="en-US" sz="2100" i="1" dirty="0">
              <a:latin typeface="Times New Roman"/>
              <a:cs typeface="Times New Roman"/>
            </a:endParaRPr>
          </a:p>
          <a:p>
            <a:pPr marL="285750" indent="-285750" algn="just">
              <a:buFont typeface="Arial"/>
              <a:buChar char="•"/>
            </a:pPr>
            <a:r>
              <a:rPr lang="en-US" sz="2100" i="1" dirty="0">
                <a:latin typeface="Times New Roman"/>
                <a:ea typeface="+mn-lt"/>
                <a:cs typeface="+mn-lt"/>
              </a:rPr>
              <a:t>Normalized to obtain state transition probabilities</a:t>
            </a:r>
            <a:endParaRPr lang="en-US" sz="2100" i="1" dirty="0">
              <a:latin typeface="Times New Roman"/>
              <a:cs typeface="Times New Roman"/>
            </a:endParaRPr>
          </a:p>
          <a:p>
            <a:pPr marL="285750" indent="-285750" algn="just">
              <a:buFont typeface="Arial"/>
              <a:buChar char="•"/>
            </a:pPr>
            <a:r>
              <a:rPr lang="en-US" sz="2100" i="1" dirty="0">
                <a:latin typeface="Times New Roman"/>
                <a:ea typeface="+mn-lt"/>
                <a:cs typeface="+mn-lt"/>
              </a:rPr>
              <a:t>Computed matrix powers (T^k) for long-term behavior</a:t>
            </a:r>
            <a:endParaRPr lang="en-US" sz="2100" i="1" dirty="0">
              <a:latin typeface="Times New Roman"/>
              <a:cs typeface="Times New Roman"/>
            </a:endParaRPr>
          </a:p>
          <a:p>
            <a:pPr marL="285750" indent="-285750" algn="just">
              <a:buFont typeface="Arial"/>
              <a:buChar char="•"/>
            </a:pPr>
            <a:r>
              <a:rPr lang="en-US" sz="2100" i="1" dirty="0">
                <a:latin typeface="Times New Roman"/>
                <a:ea typeface="+mn-lt"/>
                <a:cs typeface="+mn-lt"/>
              </a:rPr>
              <a:t>Using the transition matrix and probability distribution making a Simulation Model where we see the live movements of customer in different section.</a:t>
            </a:r>
          </a:p>
          <a:p>
            <a:pPr algn="just"/>
            <a:endParaRPr lang="en-US" sz="2000" b="1" i="1" dirty="0">
              <a:latin typeface="Times New Roman"/>
              <a:cs typeface="Times New Roman"/>
            </a:endParaRPr>
          </a:p>
          <a:p>
            <a:pPr algn="l"/>
            <a:r>
              <a:rPr lang="en-US" sz="2100" b="1" i="1" dirty="0">
                <a:latin typeface="Times New Roman"/>
                <a:cs typeface="Times New Roman"/>
              </a:rPr>
              <a:t>Agent-based modeling and data-driven decision-making</a:t>
            </a:r>
          </a:p>
          <a:p>
            <a:pPr marL="342900" indent="-342900" algn="l">
              <a:buFont typeface="Arial" panose="020B0604020202020204" pitchFamily="34" charset="0"/>
              <a:buChar char="•"/>
            </a:pPr>
            <a:r>
              <a:rPr lang="en-US" sz="2100" i="1" dirty="0">
                <a:latin typeface="Times New Roman"/>
                <a:cs typeface="Times New Roman"/>
              </a:rPr>
              <a:t>Analyze customer flow, optimize store layout, predict sales patterns, and improve operational efficiency.</a:t>
            </a:r>
          </a:p>
          <a:p>
            <a:pPr marL="342900" indent="-342900" algn="l">
              <a:buFont typeface="Arial" panose="020B0604020202020204" pitchFamily="34" charset="0"/>
              <a:buChar char="•"/>
            </a:pPr>
            <a:r>
              <a:rPr lang="en-US" sz="2100" i="1" dirty="0">
                <a:latin typeface="Times New Roman"/>
                <a:cs typeface="Times New Roman"/>
              </a:rPr>
              <a:t>Integrating real-time visualization with analytics and maximizing revenue.</a:t>
            </a:r>
          </a:p>
        </p:txBody>
      </p:sp>
      <p:sp>
        <p:nvSpPr>
          <p:cNvPr id="4" name="Arrow: Right 3">
            <a:extLst>
              <a:ext uri="{FF2B5EF4-FFF2-40B4-BE49-F238E27FC236}">
                <a16:creationId xmlns:a16="http://schemas.microsoft.com/office/drawing/2014/main" id="{0C585A2D-4F1E-19D3-DF55-CB46BA101D99}"/>
              </a:ext>
            </a:extLst>
          </p:cNvPr>
          <p:cNvSpPr/>
          <p:nvPr/>
        </p:nvSpPr>
        <p:spPr>
          <a:xfrm>
            <a:off x="1019174" y="1088557"/>
            <a:ext cx="352675" cy="158704"/>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61E872BF-07F1-2C72-BAA4-C6B05F703E69}"/>
              </a:ext>
            </a:extLst>
          </p:cNvPr>
          <p:cNvSpPr/>
          <p:nvPr/>
        </p:nvSpPr>
        <p:spPr>
          <a:xfrm>
            <a:off x="1019173" y="2667726"/>
            <a:ext cx="352675" cy="158704"/>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F45F9A95-CEAB-84C9-233A-39A10900DC7E}"/>
              </a:ext>
            </a:extLst>
          </p:cNvPr>
          <p:cNvPicPr>
            <a:picLocks noChangeAspect="1"/>
          </p:cNvPicPr>
          <p:nvPr/>
        </p:nvPicPr>
        <p:blipFill>
          <a:blip r:embed="rId2"/>
          <a:stretch>
            <a:fillRect/>
          </a:stretch>
        </p:blipFill>
        <p:spPr>
          <a:xfrm>
            <a:off x="1027784" y="4846311"/>
            <a:ext cx="377985" cy="213378"/>
          </a:xfrm>
          <a:prstGeom prst="rect">
            <a:avLst/>
          </a:prstGeom>
        </p:spPr>
      </p:pic>
    </p:spTree>
    <p:extLst>
      <p:ext uri="{BB962C8B-B14F-4D97-AF65-F5344CB8AC3E}">
        <p14:creationId xmlns:p14="http://schemas.microsoft.com/office/powerpoint/2010/main" val="2511918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AE2D1-AC78-4AEF-7443-07D891B2F4E9}"/>
              </a:ext>
            </a:extLst>
          </p:cNvPr>
          <p:cNvSpPr txBox="1">
            <a:spLocks/>
          </p:cNvSpPr>
          <p:nvPr/>
        </p:nvSpPr>
        <p:spPr>
          <a:xfrm>
            <a:off x="838200" y="62076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i="1" dirty="0">
                <a:latin typeface="Times New Roman"/>
                <a:cs typeface="Times New Roman"/>
              </a:rPr>
              <a:t>Results &amp; Visualization</a:t>
            </a:r>
            <a:endParaRPr lang="en-US" dirty="0"/>
          </a:p>
        </p:txBody>
      </p:sp>
      <p:sp>
        <p:nvSpPr>
          <p:cNvPr id="5" name="Rectangle 4">
            <a:extLst>
              <a:ext uri="{FF2B5EF4-FFF2-40B4-BE49-F238E27FC236}">
                <a16:creationId xmlns:a16="http://schemas.microsoft.com/office/drawing/2014/main" id="{21CD7C4A-B5ED-349A-D7E3-E707657C0731}"/>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 name="Picture 5">
            <a:extLst>
              <a:ext uri="{FF2B5EF4-FFF2-40B4-BE49-F238E27FC236}">
                <a16:creationId xmlns:a16="http://schemas.microsoft.com/office/drawing/2014/main" id="{EC853A2A-3953-D353-847C-CB1D1FD52A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2771" y="1435747"/>
            <a:ext cx="6731029" cy="4981115"/>
          </a:xfrm>
          <a:prstGeom prst="rect">
            <a:avLst/>
          </a:prstGeom>
        </p:spPr>
      </p:pic>
      <p:sp>
        <p:nvSpPr>
          <p:cNvPr id="8" name="TextBox 7">
            <a:extLst>
              <a:ext uri="{FF2B5EF4-FFF2-40B4-BE49-F238E27FC236}">
                <a16:creationId xmlns:a16="http://schemas.microsoft.com/office/drawing/2014/main" id="{896C2171-8450-9381-B0E6-FC04EA70B5A6}"/>
              </a:ext>
            </a:extLst>
          </p:cNvPr>
          <p:cNvSpPr txBox="1"/>
          <p:nvPr/>
        </p:nvSpPr>
        <p:spPr>
          <a:xfrm>
            <a:off x="838200" y="2731813"/>
            <a:ext cx="3667432" cy="1754326"/>
          </a:xfrm>
          <a:prstGeom prst="rect">
            <a:avLst/>
          </a:prstGeom>
          <a:noFill/>
        </p:spPr>
        <p:txBody>
          <a:bodyPr wrap="square">
            <a:spAutoFit/>
          </a:bodyPr>
          <a:lstStyle/>
          <a:p>
            <a:pPr algn="just">
              <a:buNone/>
            </a:pPr>
            <a:r>
              <a:rPr lang="en-US" i="1" dirty="0">
                <a:effectLst/>
                <a:latin typeface="Times New Roman" panose="02020603050405020304" pitchFamily="18" charset="0"/>
                <a:cs typeface="Times New Roman" panose="02020603050405020304" pitchFamily="18" charset="0"/>
              </a:rPr>
              <a:t>The image is a diagram of a Markov chain generated from a transition matrix in the file transition.csv, which shows probabilities of moving between states, such as sections in a supermarket.</a:t>
            </a:r>
          </a:p>
        </p:txBody>
      </p:sp>
    </p:spTree>
    <p:extLst>
      <p:ext uri="{BB962C8B-B14F-4D97-AF65-F5344CB8AC3E}">
        <p14:creationId xmlns:p14="http://schemas.microsoft.com/office/powerpoint/2010/main" val="1817053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68DDFB-6938-0B94-F81E-DA0DEECF6C13}"/>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42D68381-2393-36C6-EF31-83813192903C}"/>
              </a:ext>
            </a:extLst>
          </p:cNvPr>
          <p:cNvGraphicFramePr>
            <a:graphicFrameLocks noGrp="1"/>
          </p:cNvGraphicFramePr>
          <p:nvPr>
            <p:extLst>
              <p:ext uri="{D42A27DB-BD31-4B8C-83A1-F6EECF244321}">
                <p14:modId xmlns:p14="http://schemas.microsoft.com/office/powerpoint/2010/main" val="3434466737"/>
              </p:ext>
            </p:extLst>
          </p:nvPr>
        </p:nvGraphicFramePr>
        <p:xfrm>
          <a:off x="817312" y="2015399"/>
          <a:ext cx="10515603" cy="2560320"/>
        </p:xfrm>
        <a:graphic>
          <a:graphicData uri="http://schemas.openxmlformats.org/drawingml/2006/table">
            <a:tbl>
              <a:tblPr>
                <a:tableStyleId>{C4B1156A-380E-4F78-BDF5-A606A8083BF9}</a:tableStyleId>
              </a:tblPr>
              <a:tblGrid>
                <a:gridCol w="1502229">
                  <a:extLst>
                    <a:ext uri="{9D8B030D-6E8A-4147-A177-3AD203B41FA5}">
                      <a16:colId xmlns:a16="http://schemas.microsoft.com/office/drawing/2014/main" val="318519918"/>
                    </a:ext>
                  </a:extLst>
                </a:gridCol>
                <a:gridCol w="1502229">
                  <a:extLst>
                    <a:ext uri="{9D8B030D-6E8A-4147-A177-3AD203B41FA5}">
                      <a16:colId xmlns:a16="http://schemas.microsoft.com/office/drawing/2014/main" val="1840498390"/>
                    </a:ext>
                  </a:extLst>
                </a:gridCol>
                <a:gridCol w="1502229">
                  <a:extLst>
                    <a:ext uri="{9D8B030D-6E8A-4147-A177-3AD203B41FA5}">
                      <a16:colId xmlns:a16="http://schemas.microsoft.com/office/drawing/2014/main" val="3705277220"/>
                    </a:ext>
                  </a:extLst>
                </a:gridCol>
                <a:gridCol w="1502229">
                  <a:extLst>
                    <a:ext uri="{9D8B030D-6E8A-4147-A177-3AD203B41FA5}">
                      <a16:colId xmlns:a16="http://schemas.microsoft.com/office/drawing/2014/main" val="2155240575"/>
                    </a:ext>
                  </a:extLst>
                </a:gridCol>
                <a:gridCol w="1502229">
                  <a:extLst>
                    <a:ext uri="{9D8B030D-6E8A-4147-A177-3AD203B41FA5}">
                      <a16:colId xmlns:a16="http://schemas.microsoft.com/office/drawing/2014/main" val="153835104"/>
                    </a:ext>
                  </a:extLst>
                </a:gridCol>
                <a:gridCol w="1502229">
                  <a:extLst>
                    <a:ext uri="{9D8B030D-6E8A-4147-A177-3AD203B41FA5}">
                      <a16:colId xmlns:a16="http://schemas.microsoft.com/office/drawing/2014/main" val="2577094266"/>
                    </a:ext>
                  </a:extLst>
                </a:gridCol>
                <a:gridCol w="1502229">
                  <a:extLst>
                    <a:ext uri="{9D8B030D-6E8A-4147-A177-3AD203B41FA5}">
                      <a16:colId xmlns:a16="http://schemas.microsoft.com/office/drawing/2014/main" val="2777535762"/>
                    </a:ext>
                  </a:extLst>
                </a:gridCol>
              </a:tblGrid>
              <a:tr h="365760">
                <a:tc>
                  <a:txBody>
                    <a:bodyPr/>
                    <a:lstStyle/>
                    <a:p>
                      <a:pPr>
                        <a:buNone/>
                      </a:pPr>
                      <a:endParaRPr lang="en-IN" sz="1800"/>
                    </a:p>
                  </a:txBody>
                  <a:tcPr anchor="ctr"/>
                </a:tc>
                <a:tc>
                  <a:txBody>
                    <a:bodyPr/>
                    <a:lstStyle/>
                    <a:p>
                      <a:pPr>
                        <a:buNone/>
                      </a:pPr>
                      <a:r>
                        <a:rPr lang="en-IN" sz="1800" i="1" dirty="0">
                          <a:latin typeface="Times New Roman" panose="02020603050405020304" pitchFamily="18" charset="0"/>
                          <a:cs typeface="Times New Roman" panose="02020603050405020304" pitchFamily="18" charset="0"/>
                        </a:rPr>
                        <a:t>Entry</a:t>
                      </a:r>
                    </a:p>
                  </a:txBody>
                  <a:tcPr anchor="ctr"/>
                </a:tc>
                <a:tc>
                  <a:txBody>
                    <a:bodyPr/>
                    <a:lstStyle/>
                    <a:p>
                      <a:pPr>
                        <a:buNone/>
                      </a:pPr>
                      <a:r>
                        <a:rPr lang="en-IN" sz="1800" i="1" dirty="0">
                          <a:latin typeface="Times New Roman" panose="02020603050405020304" pitchFamily="18" charset="0"/>
                          <a:cs typeface="Times New Roman" panose="02020603050405020304" pitchFamily="18" charset="0"/>
                        </a:rPr>
                        <a:t>Dairy</a:t>
                      </a:r>
                    </a:p>
                  </a:txBody>
                  <a:tcPr anchor="ctr"/>
                </a:tc>
                <a:tc>
                  <a:txBody>
                    <a:bodyPr/>
                    <a:lstStyle/>
                    <a:p>
                      <a:pPr>
                        <a:buNone/>
                      </a:pPr>
                      <a:r>
                        <a:rPr lang="en-IN" sz="1800" i="1" dirty="0">
                          <a:latin typeface="Times New Roman" panose="02020603050405020304" pitchFamily="18" charset="0"/>
                          <a:cs typeface="Times New Roman" panose="02020603050405020304" pitchFamily="18" charset="0"/>
                        </a:rPr>
                        <a:t>Spices</a:t>
                      </a:r>
                    </a:p>
                  </a:txBody>
                  <a:tcPr anchor="ctr"/>
                </a:tc>
                <a:tc>
                  <a:txBody>
                    <a:bodyPr/>
                    <a:lstStyle/>
                    <a:p>
                      <a:pPr>
                        <a:buNone/>
                      </a:pPr>
                      <a:r>
                        <a:rPr lang="en-IN" sz="1800" i="1" dirty="0">
                          <a:latin typeface="Times New Roman" panose="02020603050405020304" pitchFamily="18" charset="0"/>
                          <a:cs typeface="Times New Roman" panose="02020603050405020304" pitchFamily="18" charset="0"/>
                        </a:rPr>
                        <a:t>Drinks</a:t>
                      </a:r>
                    </a:p>
                  </a:txBody>
                  <a:tcPr anchor="ctr"/>
                </a:tc>
                <a:tc>
                  <a:txBody>
                    <a:bodyPr/>
                    <a:lstStyle/>
                    <a:p>
                      <a:pPr>
                        <a:buNone/>
                      </a:pPr>
                      <a:r>
                        <a:rPr lang="en-IN" sz="1800" i="1" dirty="0">
                          <a:latin typeface="Times New Roman" panose="02020603050405020304" pitchFamily="18" charset="0"/>
                          <a:cs typeface="Times New Roman" panose="02020603050405020304" pitchFamily="18" charset="0"/>
                        </a:rPr>
                        <a:t>Fruit</a:t>
                      </a:r>
                    </a:p>
                  </a:txBody>
                  <a:tcPr anchor="ctr"/>
                </a:tc>
                <a:tc>
                  <a:txBody>
                    <a:bodyPr/>
                    <a:lstStyle/>
                    <a:p>
                      <a:pPr>
                        <a:buNone/>
                      </a:pPr>
                      <a:r>
                        <a:rPr lang="en-IN" sz="1800" i="1" dirty="0">
                          <a:latin typeface="Times New Roman" panose="02020603050405020304" pitchFamily="18" charset="0"/>
                          <a:cs typeface="Times New Roman" panose="02020603050405020304" pitchFamily="18" charset="0"/>
                        </a:rPr>
                        <a:t>Checkout</a:t>
                      </a:r>
                    </a:p>
                  </a:txBody>
                  <a:tcPr anchor="ctr"/>
                </a:tc>
                <a:extLst>
                  <a:ext uri="{0D108BD9-81ED-4DB2-BD59-A6C34878D82A}">
                    <a16:rowId xmlns:a16="http://schemas.microsoft.com/office/drawing/2014/main" val="3019153959"/>
                  </a:ext>
                </a:extLst>
              </a:tr>
              <a:tr h="365760">
                <a:tc>
                  <a:txBody>
                    <a:bodyPr/>
                    <a:lstStyle/>
                    <a:p>
                      <a:pPr>
                        <a:buNone/>
                      </a:pPr>
                      <a:r>
                        <a:rPr lang="en-IN" sz="1800" i="1">
                          <a:latin typeface="Times New Roman" panose="02020603050405020304" pitchFamily="18" charset="0"/>
                          <a:cs typeface="Times New Roman" panose="02020603050405020304" pitchFamily="18" charset="0"/>
                        </a:rPr>
                        <a:t>Entry</a:t>
                      </a:r>
                    </a:p>
                  </a:txBody>
                  <a:tcPr anchor="ctr"/>
                </a:tc>
                <a:tc>
                  <a:txBody>
                    <a:bodyPr/>
                    <a:lstStyle/>
                    <a:p>
                      <a:pPr>
                        <a:buNone/>
                      </a:pPr>
                      <a:r>
                        <a:rPr lang="en-IN" sz="1800" i="0" dirty="0">
                          <a:latin typeface="Times New Roman" panose="02020603050405020304" pitchFamily="18" charset="0"/>
                          <a:cs typeface="Times New Roman" panose="02020603050405020304" pitchFamily="18" charset="0"/>
                        </a:rPr>
                        <a:t>0</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0.287441236</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0.181329752</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0.153391538</a:t>
                      </a:r>
                    </a:p>
                  </a:txBody>
                  <a:tcPr anchor="ctr"/>
                </a:tc>
                <a:tc>
                  <a:txBody>
                    <a:bodyPr/>
                    <a:lstStyle/>
                    <a:p>
                      <a:pPr>
                        <a:buNone/>
                      </a:pPr>
                      <a:r>
                        <a:rPr lang="en-IN" sz="1800" i="0" dirty="0">
                          <a:latin typeface="Times New Roman" panose="02020603050405020304" pitchFamily="18" charset="0"/>
                          <a:cs typeface="Times New Roman" panose="02020603050405020304" pitchFamily="18" charset="0"/>
                        </a:rPr>
                        <a:t>0.377300201</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0.000537273</a:t>
                      </a:r>
                    </a:p>
                  </a:txBody>
                  <a:tcPr anchor="ctr"/>
                </a:tc>
                <a:extLst>
                  <a:ext uri="{0D108BD9-81ED-4DB2-BD59-A6C34878D82A}">
                    <a16:rowId xmlns:a16="http://schemas.microsoft.com/office/drawing/2014/main" val="2456275601"/>
                  </a:ext>
                </a:extLst>
              </a:tr>
              <a:tr h="365760">
                <a:tc>
                  <a:txBody>
                    <a:bodyPr/>
                    <a:lstStyle/>
                    <a:p>
                      <a:pPr>
                        <a:buNone/>
                      </a:pPr>
                      <a:r>
                        <a:rPr lang="en-IN" sz="1800" i="1">
                          <a:latin typeface="Times New Roman" panose="02020603050405020304" pitchFamily="18" charset="0"/>
                          <a:cs typeface="Times New Roman" panose="02020603050405020304" pitchFamily="18" charset="0"/>
                        </a:rPr>
                        <a:t>Dairy</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0.737022665</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0.051346943</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0.058545639</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0.049772229</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0.103312525</a:t>
                      </a:r>
                    </a:p>
                  </a:txBody>
                  <a:tcPr anchor="ctr"/>
                </a:tc>
                <a:extLst>
                  <a:ext uri="{0D108BD9-81ED-4DB2-BD59-A6C34878D82A}">
                    <a16:rowId xmlns:a16="http://schemas.microsoft.com/office/drawing/2014/main" val="2579858014"/>
                  </a:ext>
                </a:extLst>
              </a:tr>
              <a:tr h="365760">
                <a:tc>
                  <a:txBody>
                    <a:bodyPr/>
                    <a:lstStyle/>
                    <a:p>
                      <a:pPr>
                        <a:buNone/>
                      </a:pPr>
                      <a:r>
                        <a:rPr lang="en-IN" sz="1800" i="1">
                          <a:latin typeface="Times New Roman" panose="02020603050405020304" pitchFamily="18" charset="0"/>
                          <a:cs typeface="Times New Roman" panose="02020603050405020304" pitchFamily="18" charset="0"/>
                        </a:rPr>
                        <a:t>Spices</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0.193214399</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0.402198152</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0.16310927</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0.090952533</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0.150525645</a:t>
                      </a:r>
                    </a:p>
                  </a:txBody>
                  <a:tcPr anchor="ctr"/>
                </a:tc>
                <a:extLst>
                  <a:ext uri="{0D108BD9-81ED-4DB2-BD59-A6C34878D82A}">
                    <a16:rowId xmlns:a16="http://schemas.microsoft.com/office/drawing/2014/main" val="15107060"/>
                  </a:ext>
                </a:extLst>
              </a:tr>
              <a:tr h="365760">
                <a:tc>
                  <a:txBody>
                    <a:bodyPr/>
                    <a:lstStyle/>
                    <a:p>
                      <a:pPr>
                        <a:buNone/>
                      </a:pPr>
                      <a:r>
                        <a:rPr lang="en-IN" sz="1800" i="1">
                          <a:latin typeface="Times New Roman" panose="02020603050405020304" pitchFamily="18" charset="0"/>
                          <a:cs typeface="Times New Roman" panose="02020603050405020304" pitchFamily="18" charset="0"/>
                        </a:rPr>
                        <a:t>Drinks</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0.010899743</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0.086992288</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0.598560411</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0.087917738</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0.21562982</a:t>
                      </a:r>
                    </a:p>
                  </a:txBody>
                  <a:tcPr anchor="ctr"/>
                </a:tc>
                <a:extLst>
                  <a:ext uri="{0D108BD9-81ED-4DB2-BD59-A6C34878D82A}">
                    <a16:rowId xmlns:a16="http://schemas.microsoft.com/office/drawing/2014/main" val="2155120045"/>
                  </a:ext>
                </a:extLst>
              </a:tr>
              <a:tr h="365760">
                <a:tc>
                  <a:txBody>
                    <a:bodyPr/>
                    <a:lstStyle/>
                    <a:p>
                      <a:pPr>
                        <a:buNone/>
                      </a:pPr>
                      <a:r>
                        <a:rPr lang="en-IN" sz="1800" i="1">
                          <a:latin typeface="Times New Roman" panose="02020603050405020304" pitchFamily="18" charset="0"/>
                          <a:cs typeface="Times New Roman" panose="02020603050405020304" pitchFamily="18" charset="0"/>
                        </a:rPr>
                        <a:t>Fruit</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0.095743844</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0.050664779</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0.054834395</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0.597199276</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0.201557706</a:t>
                      </a:r>
                    </a:p>
                  </a:txBody>
                  <a:tcPr anchor="ctr"/>
                </a:tc>
                <a:extLst>
                  <a:ext uri="{0D108BD9-81ED-4DB2-BD59-A6C34878D82A}">
                    <a16:rowId xmlns:a16="http://schemas.microsoft.com/office/drawing/2014/main" val="4003293121"/>
                  </a:ext>
                </a:extLst>
              </a:tr>
              <a:tr h="365760">
                <a:tc>
                  <a:txBody>
                    <a:bodyPr/>
                    <a:lstStyle/>
                    <a:p>
                      <a:pPr>
                        <a:buNone/>
                      </a:pPr>
                      <a:r>
                        <a:rPr lang="en-IN" sz="1800" i="1" dirty="0">
                          <a:latin typeface="Times New Roman" panose="02020603050405020304" pitchFamily="18" charset="0"/>
                          <a:cs typeface="Times New Roman" panose="02020603050405020304" pitchFamily="18" charset="0"/>
                        </a:rPr>
                        <a:t>Checkout</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a:t>
                      </a:r>
                    </a:p>
                  </a:txBody>
                  <a:tcPr anchor="ctr"/>
                </a:tc>
                <a:tc>
                  <a:txBody>
                    <a:bodyPr/>
                    <a:lstStyle/>
                    <a:p>
                      <a:pPr>
                        <a:buNone/>
                      </a:pPr>
                      <a:r>
                        <a:rPr lang="en-IN" sz="1800" i="0">
                          <a:latin typeface="Times New Roman" panose="02020603050405020304" pitchFamily="18" charset="0"/>
                          <a:cs typeface="Times New Roman" panose="02020603050405020304" pitchFamily="18" charset="0"/>
                        </a:rPr>
                        <a:t>0</a:t>
                      </a:r>
                    </a:p>
                  </a:txBody>
                  <a:tcPr anchor="ctr"/>
                </a:tc>
                <a:tc>
                  <a:txBody>
                    <a:bodyPr/>
                    <a:lstStyle/>
                    <a:p>
                      <a:pPr>
                        <a:buNone/>
                      </a:pPr>
                      <a:r>
                        <a:rPr lang="en-IN" sz="1800" i="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933460622"/>
                  </a:ext>
                </a:extLst>
              </a:tr>
            </a:tbl>
          </a:graphicData>
        </a:graphic>
      </p:graphicFrame>
      <p:sp>
        <p:nvSpPr>
          <p:cNvPr id="5" name="TextBox 4">
            <a:extLst>
              <a:ext uri="{FF2B5EF4-FFF2-40B4-BE49-F238E27FC236}">
                <a16:creationId xmlns:a16="http://schemas.microsoft.com/office/drawing/2014/main" id="{8B6866F8-F904-7039-BB27-E7D11FF22774}"/>
              </a:ext>
            </a:extLst>
          </p:cNvPr>
          <p:cNvSpPr txBox="1"/>
          <p:nvPr/>
        </p:nvSpPr>
        <p:spPr>
          <a:xfrm>
            <a:off x="1876738" y="5077318"/>
            <a:ext cx="8396749" cy="646331"/>
          </a:xfrm>
          <a:prstGeom prst="rect">
            <a:avLst/>
          </a:prstGeom>
          <a:noFill/>
        </p:spPr>
        <p:txBody>
          <a:bodyPr wrap="square">
            <a:spAutoFit/>
          </a:bodyPr>
          <a:lstStyle/>
          <a:p>
            <a:pPr algn="just">
              <a:buNone/>
            </a:pPr>
            <a:r>
              <a:rPr lang="en-US" i="1" dirty="0">
                <a:latin typeface="Times New Roman" panose="02020603050405020304" pitchFamily="18" charset="0"/>
                <a:cs typeface="Times New Roman" panose="02020603050405020304" pitchFamily="18" charset="0"/>
              </a:rPr>
              <a:t>T</a:t>
            </a:r>
            <a:r>
              <a:rPr lang="en-US" i="1" dirty="0">
                <a:effectLst/>
                <a:latin typeface="Times New Roman" panose="02020603050405020304" pitchFamily="18" charset="0"/>
                <a:cs typeface="Times New Roman" panose="02020603050405020304" pitchFamily="18" charset="0"/>
              </a:rPr>
              <a:t>he Markov transition matrix provided in a table format, representing the probabilities of moving between states (entry, dairy, spices, drinks, fruit, checkout)</a:t>
            </a:r>
          </a:p>
        </p:txBody>
      </p:sp>
      <p:sp>
        <p:nvSpPr>
          <p:cNvPr id="6" name="TextBox 5">
            <a:extLst>
              <a:ext uri="{FF2B5EF4-FFF2-40B4-BE49-F238E27FC236}">
                <a16:creationId xmlns:a16="http://schemas.microsoft.com/office/drawing/2014/main" id="{8CBC4AF2-D6A5-A5A0-FF63-554C7890BA98}"/>
              </a:ext>
            </a:extLst>
          </p:cNvPr>
          <p:cNvSpPr txBox="1"/>
          <p:nvPr/>
        </p:nvSpPr>
        <p:spPr>
          <a:xfrm>
            <a:off x="817312" y="1052136"/>
            <a:ext cx="8396749" cy="461665"/>
          </a:xfrm>
          <a:prstGeom prst="rect">
            <a:avLst/>
          </a:prstGeom>
          <a:noFill/>
        </p:spPr>
        <p:txBody>
          <a:bodyPr wrap="square">
            <a:spAutoFit/>
          </a:bodyPr>
          <a:lstStyle/>
          <a:p>
            <a:pPr algn="just">
              <a:buNone/>
            </a:pPr>
            <a:r>
              <a:rPr lang="en-US" sz="2400" b="1" i="1" dirty="0">
                <a:latin typeface="Times New Roman" panose="02020603050405020304" pitchFamily="18" charset="0"/>
                <a:cs typeface="Times New Roman" panose="02020603050405020304" pitchFamily="18" charset="0"/>
              </a:rPr>
              <a:t>Transition Matrix</a:t>
            </a:r>
            <a:endParaRPr lang="en-US" sz="2400" b="1" i="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5335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61E7B9-7C04-4DED-C90B-B29C0DD3109A}"/>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4" name="Picture 3">
            <a:extLst>
              <a:ext uri="{FF2B5EF4-FFF2-40B4-BE49-F238E27FC236}">
                <a16:creationId xmlns:a16="http://schemas.microsoft.com/office/drawing/2014/main" id="{925E4A63-E229-06C6-6A9C-79424B6EBA36}"/>
              </a:ext>
            </a:extLst>
          </p:cNvPr>
          <p:cNvPicPr>
            <a:picLocks noChangeAspect="1"/>
          </p:cNvPicPr>
          <p:nvPr/>
        </p:nvPicPr>
        <p:blipFill>
          <a:blip r:embed="rId2"/>
          <a:stretch>
            <a:fillRect/>
          </a:stretch>
        </p:blipFill>
        <p:spPr>
          <a:xfrm>
            <a:off x="881946" y="1386349"/>
            <a:ext cx="6145991" cy="4540188"/>
          </a:xfrm>
          <a:prstGeom prst="rect">
            <a:avLst/>
          </a:prstGeom>
        </p:spPr>
      </p:pic>
      <p:sp>
        <p:nvSpPr>
          <p:cNvPr id="6" name="TextBox 5">
            <a:extLst>
              <a:ext uri="{FF2B5EF4-FFF2-40B4-BE49-F238E27FC236}">
                <a16:creationId xmlns:a16="http://schemas.microsoft.com/office/drawing/2014/main" id="{D0FC919F-4152-BA6E-CDEC-2A8E74F2C73F}"/>
              </a:ext>
            </a:extLst>
          </p:cNvPr>
          <p:cNvSpPr txBox="1"/>
          <p:nvPr/>
        </p:nvSpPr>
        <p:spPr>
          <a:xfrm>
            <a:off x="7320548" y="2225282"/>
            <a:ext cx="4159045" cy="2862322"/>
          </a:xfrm>
          <a:prstGeom prst="rect">
            <a:avLst/>
          </a:prstGeom>
          <a:noFill/>
        </p:spPr>
        <p:txBody>
          <a:bodyPr wrap="square">
            <a:spAutoFit/>
          </a:bodyPr>
          <a:lstStyle/>
          <a:p>
            <a:pPr algn="ctr"/>
            <a:r>
              <a:rPr lang="en-IN" b="1" i="1" dirty="0">
                <a:latin typeface="Times New Roman" panose="02020603050405020304" pitchFamily="18" charset="0"/>
                <a:cs typeface="Times New Roman" panose="02020603050405020304" pitchFamily="18" charset="0"/>
              </a:rPr>
              <a:t>Purpose: </a:t>
            </a:r>
            <a:r>
              <a:rPr lang="en-IN" i="1" dirty="0">
                <a:latin typeface="Times New Roman" panose="02020603050405020304" pitchFamily="18" charset="0"/>
                <a:cs typeface="Times New Roman" panose="02020603050405020304" pitchFamily="18" charset="0"/>
              </a:rPr>
              <a:t>Simulates customer movement in a supermarket using a Markov transition matrix, visualized on a floor plan. Supermarket Class: Initializes with floor plan image and customers.Tracks section visits (drinks, dairy, spices, fruit, checkout) and revenue ($5, $4, $2, $3, $0 per visit).Displays time, visit counts, and revenue using OpenCV. Loads counter image for checkout visualization.</a:t>
            </a:r>
          </a:p>
        </p:txBody>
      </p:sp>
      <p:sp>
        <p:nvSpPr>
          <p:cNvPr id="7" name="TextBox 6">
            <a:extLst>
              <a:ext uri="{FF2B5EF4-FFF2-40B4-BE49-F238E27FC236}">
                <a16:creationId xmlns:a16="http://schemas.microsoft.com/office/drawing/2014/main" id="{64242870-D54E-6971-D621-BFC148CA07F3}"/>
              </a:ext>
            </a:extLst>
          </p:cNvPr>
          <p:cNvSpPr txBox="1"/>
          <p:nvPr/>
        </p:nvSpPr>
        <p:spPr>
          <a:xfrm>
            <a:off x="679660" y="700630"/>
            <a:ext cx="8396749" cy="461665"/>
          </a:xfrm>
          <a:prstGeom prst="rect">
            <a:avLst/>
          </a:prstGeom>
          <a:noFill/>
        </p:spPr>
        <p:txBody>
          <a:bodyPr wrap="square">
            <a:spAutoFit/>
          </a:bodyPr>
          <a:lstStyle/>
          <a:p>
            <a:pPr algn="just">
              <a:buNone/>
            </a:pPr>
            <a:r>
              <a:rPr lang="en-US" sz="2400" b="1" i="1" dirty="0">
                <a:effectLst/>
                <a:latin typeface="Times New Roman" panose="02020603050405020304" pitchFamily="18" charset="0"/>
                <a:cs typeface="Times New Roman" panose="02020603050405020304" pitchFamily="18" charset="0"/>
              </a:rPr>
              <a:t>Simulation Frame Image</a:t>
            </a:r>
          </a:p>
        </p:txBody>
      </p:sp>
    </p:spTree>
    <p:extLst>
      <p:ext uri="{BB962C8B-B14F-4D97-AF65-F5344CB8AC3E}">
        <p14:creationId xmlns:p14="http://schemas.microsoft.com/office/powerpoint/2010/main" val="818461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2ABB189-B5A7-6B6D-85CB-380800F0D57A}"/>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5" name="Picture 4">
            <a:extLst>
              <a:ext uri="{FF2B5EF4-FFF2-40B4-BE49-F238E27FC236}">
                <a16:creationId xmlns:a16="http://schemas.microsoft.com/office/drawing/2014/main" id="{A6DE1EF9-B572-3555-8B35-410CAC75FB3A}"/>
              </a:ext>
            </a:extLst>
          </p:cNvPr>
          <p:cNvPicPr>
            <a:picLocks noChangeAspect="1"/>
          </p:cNvPicPr>
          <p:nvPr/>
        </p:nvPicPr>
        <p:blipFill>
          <a:blip r:embed="rId2"/>
          <a:stretch>
            <a:fillRect/>
          </a:stretch>
        </p:blipFill>
        <p:spPr>
          <a:xfrm>
            <a:off x="1106812" y="1327605"/>
            <a:ext cx="4035459" cy="4197860"/>
          </a:xfrm>
          <a:prstGeom prst="rect">
            <a:avLst/>
          </a:prstGeom>
        </p:spPr>
      </p:pic>
      <p:sp>
        <p:nvSpPr>
          <p:cNvPr id="7" name="TextBox 6">
            <a:extLst>
              <a:ext uri="{FF2B5EF4-FFF2-40B4-BE49-F238E27FC236}">
                <a16:creationId xmlns:a16="http://schemas.microsoft.com/office/drawing/2014/main" id="{410CB5AB-67F0-E1D5-A550-5F74AEAB947A}"/>
              </a:ext>
            </a:extLst>
          </p:cNvPr>
          <p:cNvSpPr txBox="1"/>
          <p:nvPr/>
        </p:nvSpPr>
        <p:spPr>
          <a:xfrm>
            <a:off x="4847303" y="1908758"/>
            <a:ext cx="6096000" cy="2585323"/>
          </a:xfrm>
          <a:prstGeom prst="rect">
            <a:avLst/>
          </a:prstGeom>
          <a:noFill/>
        </p:spPr>
        <p:txBody>
          <a:bodyPr wrap="square">
            <a:spAutoFit/>
          </a:bodyPr>
          <a:lstStyle/>
          <a:p>
            <a:pPr algn="just"/>
            <a:r>
              <a:rPr lang="en-US" i="1" dirty="0">
                <a:latin typeface="Times New Roman" panose="02020603050405020304" pitchFamily="18" charset="0"/>
                <a:cs typeface="Times New Roman" panose="02020603050405020304" pitchFamily="18" charset="0"/>
              </a:rPr>
              <a:t>The supermarket simulation code effectively manages customer queues handles them without congestion by using Round Robin Method.</a:t>
            </a:r>
          </a:p>
          <a:p>
            <a:pPr algn="just"/>
            <a:endParaRPr lang="en-US" i="1" dirty="0">
              <a:latin typeface="Times New Roman" panose="02020603050405020304" pitchFamily="18" charset="0"/>
              <a:cs typeface="Times New Roman" panose="02020603050405020304" pitchFamily="18" charset="0"/>
            </a:endParaRPr>
          </a:p>
          <a:p>
            <a:pPr algn="just"/>
            <a:r>
              <a:rPr lang="en-US" i="1" dirty="0">
                <a:latin typeface="Times New Roman" panose="02020603050405020304" pitchFamily="18" charset="0"/>
                <a:cs typeface="Times New Roman" panose="02020603050405020304" pitchFamily="18" charset="0"/>
              </a:rPr>
              <a:t>Round-Robin is a method for distributing tasks, resources, or assignments in a fair and cyclic manner across a fixed set of options. In the context of the supermarket simulation, it refers to assigning customers to the four checkout counters (x=100, 250, 400, 535) sequentially to ensure an even distribution.</a:t>
            </a:r>
          </a:p>
        </p:txBody>
      </p:sp>
    </p:spTree>
    <p:extLst>
      <p:ext uri="{BB962C8B-B14F-4D97-AF65-F5344CB8AC3E}">
        <p14:creationId xmlns:p14="http://schemas.microsoft.com/office/powerpoint/2010/main" val="3855793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58F872-377F-B9DF-D9E5-2DB1052B5959}"/>
              </a:ext>
            </a:extLst>
          </p:cNvPr>
          <p:cNvPicPr>
            <a:picLocks noChangeAspect="1"/>
          </p:cNvPicPr>
          <p:nvPr/>
        </p:nvPicPr>
        <p:blipFill>
          <a:blip r:embed="rId2"/>
          <a:stretch>
            <a:fillRect/>
          </a:stretch>
        </p:blipFill>
        <p:spPr>
          <a:xfrm>
            <a:off x="769681" y="804248"/>
            <a:ext cx="6199428" cy="2705868"/>
          </a:xfrm>
          <a:prstGeom prst="rect">
            <a:avLst/>
          </a:prstGeom>
        </p:spPr>
      </p:pic>
      <p:sp>
        <p:nvSpPr>
          <p:cNvPr id="4" name="Rectangle 3">
            <a:extLst>
              <a:ext uri="{FF2B5EF4-FFF2-40B4-BE49-F238E27FC236}">
                <a16:creationId xmlns:a16="http://schemas.microsoft.com/office/drawing/2014/main" id="{960E1A2C-3200-870B-36A3-C55FB601F00A}"/>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 name="Picture 5">
            <a:extLst>
              <a:ext uri="{FF2B5EF4-FFF2-40B4-BE49-F238E27FC236}">
                <a16:creationId xmlns:a16="http://schemas.microsoft.com/office/drawing/2014/main" id="{5F872BAC-1CC7-3F8C-9359-51F1F7E65797}"/>
              </a:ext>
            </a:extLst>
          </p:cNvPr>
          <p:cNvPicPr>
            <a:picLocks noChangeAspect="1"/>
          </p:cNvPicPr>
          <p:nvPr/>
        </p:nvPicPr>
        <p:blipFill>
          <a:blip r:embed="rId3"/>
          <a:stretch>
            <a:fillRect/>
          </a:stretch>
        </p:blipFill>
        <p:spPr>
          <a:xfrm>
            <a:off x="769681" y="3510116"/>
            <a:ext cx="6665167" cy="2944768"/>
          </a:xfrm>
          <a:prstGeom prst="rect">
            <a:avLst/>
          </a:prstGeom>
        </p:spPr>
      </p:pic>
      <p:sp>
        <p:nvSpPr>
          <p:cNvPr id="7" name="TextBox 6">
            <a:extLst>
              <a:ext uri="{FF2B5EF4-FFF2-40B4-BE49-F238E27FC236}">
                <a16:creationId xmlns:a16="http://schemas.microsoft.com/office/drawing/2014/main" id="{7B00418D-48CC-64FC-CA7B-DD7F208CFA54}"/>
              </a:ext>
            </a:extLst>
          </p:cNvPr>
          <p:cNvSpPr txBox="1"/>
          <p:nvPr/>
        </p:nvSpPr>
        <p:spPr>
          <a:xfrm>
            <a:off x="7570839" y="1081548"/>
            <a:ext cx="3726426" cy="923330"/>
          </a:xfrm>
          <a:prstGeom prst="rect">
            <a:avLst/>
          </a:prstGeom>
          <a:noFill/>
        </p:spPr>
        <p:txBody>
          <a:bodyPr wrap="square" rtlCol="0">
            <a:spAutoFit/>
          </a:bodyPr>
          <a:lstStyle/>
          <a:p>
            <a:pPr algn="just"/>
            <a:r>
              <a:rPr lang="en-US" i="1" dirty="0">
                <a:latin typeface="Times New Roman" panose="02020603050405020304" pitchFamily="18" charset="0"/>
                <a:cs typeface="Times New Roman" panose="02020603050405020304" pitchFamily="18" charset="0"/>
              </a:rPr>
              <a:t>This Histogram tells the average number of people on each section on a weekly data</a:t>
            </a:r>
            <a:endParaRPr lang="en-IN" i="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7A9C740-5159-B72C-D141-7588BF049873}"/>
              </a:ext>
            </a:extLst>
          </p:cNvPr>
          <p:cNvSpPr txBox="1"/>
          <p:nvPr/>
        </p:nvSpPr>
        <p:spPr>
          <a:xfrm>
            <a:off x="7695893" y="4239058"/>
            <a:ext cx="3726426" cy="1200329"/>
          </a:xfrm>
          <a:prstGeom prst="rect">
            <a:avLst/>
          </a:prstGeom>
          <a:noFill/>
        </p:spPr>
        <p:txBody>
          <a:bodyPr wrap="square" rtlCol="0">
            <a:spAutoFit/>
          </a:bodyPr>
          <a:lstStyle/>
          <a:p>
            <a:pPr algn="just"/>
            <a:r>
              <a:rPr lang="en-US" i="1" dirty="0">
                <a:latin typeface="Times New Roman" panose="02020603050405020304" pitchFamily="18" charset="0"/>
                <a:cs typeface="Times New Roman" panose="02020603050405020304" pitchFamily="18" charset="0"/>
              </a:rPr>
              <a:t>This plot tells number of customer visiting the first section compared with following sections so that we can set first section efficiently.</a:t>
            </a:r>
            <a:endParaRPr lang="en-IN"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9865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516C6-137B-E0D4-74B9-0635343CA4F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6CF5C00-2BE0-1760-11F0-FCD4639487E2}"/>
              </a:ext>
            </a:extLst>
          </p:cNvPr>
          <p:cNvSpPr>
            <a:spLocks noGrp="1"/>
          </p:cNvSpPr>
          <p:nvPr>
            <p:ph type="title"/>
          </p:nvPr>
        </p:nvSpPr>
        <p:spPr>
          <a:xfrm>
            <a:off x="838200" y="365125"/>
            <a:ext cx="10515600" cy="1325563"/>
          </a:xfrm>
        </p:spPr>
        <p:txBody>
          <a:bodyPr/>
          <a:lstStyle/>
          <a:p>
            <a:pPr algn="ctr"/>
            <a:r>
              <a:rPr lang="en-US" b="1" i="1" dirty="0">
                <a:latin typeface="Times New Roman"/>
                <a:cs typeface="Times New Roman"/>
              </a:rPr>
              <a:t>Conclusion</a:t>
            </a:r>
          </a:p>
        </p:txBody>
      </p:sp>
      <p:sp>
        <p:nvSpPr>
          <p:cNvPr id="7" name="Rectangle 6">
            <a:extLst>
              <a:ext uri="{FF2B5EF4-FFF2-40B4-BE49-F238E27FC236}">
                <a16:creationId xmlns:a16="http://schemas.microsoft.com/office/drawing/2014/main" id="{79D59438-E7A1-1285-8574-3F6F022C0AAC}"/>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E0A7551A-5238-BD2A-5458-3062379CE856}"/>
              </a:ext>
            </a:extLst>
          </p:cNvPr>
          <p:cNvSpPr txBox="1"/>
          <p:nvPr/>
        </p:nvSpPr>
        <p:spPr>
          <a:xfrm>
            <a:off x="1718101" y="1900364"/>
            <a:ext cx="8755798" cy="3268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150000"/>
              </a:lnSpc>
            </a:pPr>
            <a:r>
              <a:rPr lang="en-US" sz="2000" i="1" dirty="0">
                <a:latin typeface="Times New Roman" panose="02020603050405020304" pitchFamily="18" charset="0"/>
                <a:cs typeface="Times New Roman" panose="02020603050405020304" pitchFamily="18" charset="0"/>
              </a:rPr>
              <a:t>A structured pipeline was developed to transform raw, timestamped customer location logs across multiple days into unified shopping journeys. From this data, a first-order Markov model was constructed, which empirically quantifies the probabilistic flow of customers between store sections. The resulting model effectively captures customer movement patterns, common routes, time spent in sections, and progression to checkout, providing actionable insights into shopping behavior within the store.</a:t>
            </a:r>
            <a:endParaRPr 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6906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D0B5E-B05B-F230-F7E2-FF29E25A090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4E18858-55F8-90D9-A206-5E484F4DDF1F}"/>
              </a:ext>
            </a:extLst>
          </p:cNvPr>
          <p:cNvSpPr>
            <a:spLocks noGrp="1"/>
          </p:cNvSpPr>
          <p:nvPr>
            <p:ph type="title"/>
          </p:nvPr>
        </p:nvSpPr>
        <p:spPr>
          <a:xfrm>
            <a:off x="838200" y="365125"/>
            <a:ext cx="10515600" cy="1325563"/>
          </a:xfrm>
        </p:spPr>
        <p:txBody>
          <a:bodyPr/>
          <a:lstStyle/>
          <a:p>
            <a:r>
              <a:rPr lang="en-US" b="1" i="1">
                <a:latin typeface="Times New Roman"/>
                <a:cs typeface="Times New Roman"/>
              </a:rPr>
              <a:t>References</a:t>
            </a:r>
          </a:p>
        </p:txBody>
      </p:sp>
      <p:sp>
        <p:nvSpPr>
          <p:cNvPr id="7" name="Rectangle 6">
            <a:extLst>
              <a:ext uri="{FF2B5EF4-FFF2-40B4-BE49-F238E27FC236}">
                <a16:creationId xmlns:a16="http://schemas.microsoft.com/office/drawing/2014/main" id="{7F8369D0-EA3E-4681-AA85-CE10428468DB}"/>
              </a:ext>
            </a:extLst>
          </p:cNvPr>
          <p:cNvSpPr/>
          <p:nvPr/>
        </p:nvSpPr>
        <p:spPr>
          <a:xfrm>
            <a:off x="378024" y="266016"/>
            <a:ext cx="11394180" cy="632103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Title 1">
            <a:extLst>
              <a:ext uri="{FF2B5EF4-FFF2-40B4-BE49-F238E27FC236}">
                <a16:creationId xmlns:a16="http://schemas.microsoft.com/office/drawing/2014/main" id="{D68C6A4F-0765-65B4-ACAF-D81E2F53CAEC}"/>
              </a:ext>
            </a:extLst>
          </p:cNvPr>
          <p:cNvSpPr txBox="1">
            <a:spLocks/>
          </p:cNvSpPr>
          <p:nvPr/>
        </p:nvSpPr>
        <p:spPr>
          <a:xfrm>
            <a:off x="830179" y="1700630"/>
            <a:ext cx="10515600" cy="270251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2200" dirty="0">
                <a:solidFill>
                  <a:srgbClr val="222222"/>
                </a:solidFill>
                <a:latin typeface="Times New Roman"/>
                <a:cs typeface="Times New Roman"/>
              </a:rPr>
              <a:t>[1] </a:t>
            </a:r>
            <a:r>
              <a:rPr lang="en-US" sz="2200" dirty="0">
                <a:solidFill>
                  <a:srgbClr val="222222"/>
                </a:solidFill>
                <a:latin typeface="Times New Roman"/>
                <a:ea typeface="+mj-lt"/>
                <a:cs typeface="Times New Roman"/>
              </a:rPr>
              <a:t>M. </a:t>
            </a:r>
            <a:r>
              <a:rPr lang="en-US" sz="2200" dirty="0" err="1">
                <a:solidFill>
                  <a:srgbClr val="222222"/>
                </a:solidFill>
                <a:latin typeface="Times New Roman"/>
                <a:ea typeface="+mj-lt"/>
                <a:cs typeface="Times New Roman"/>
              </a:rPr>
              <a:t>Gudimella</a:t>
            </a:r>
            <a:r>
              <a:rPr lang="en-US" sz="2200" dirty="0">
                <a:solidFill>
                  <a:srgbClr val="222222"/>
                </a:solidFill>
                <a:latin typeface="Times New Roman"/>
                <a:ea typeface="+mj-lt"/>
                <a:cs typeface="Times New Roman"/>
              </a:rPr>
              <a:t>, “Modeling customer behavior with Markov chains,” </a:t>
            </a:r>
            <a:r>
              <a:rPr lang="en-US" sz="2200" i="1" dirty="0">
                <a:solidFill>
                  <a:srgbClr val="222222"/>
                </a:solidFill>
                <a:latin typeface="Times New Roman"/>
                <a:ea typeface="+mj-lt"/>
                <a:cs typeface="Times New Roman"/>
              </a:rPr>
              <a:t>Data Science at Microsoft</a:t>
            </a:r>
            <a:r>
              <a:rPr lang="en-US" sz="2200" dirty="0">
                <a:solidFill>
                  <a:srgbClr val="222222"/>
                </a:solidFill>
                <a:latin typeface="Times New Roman"/>
                <a:ea typeface="+mj-lt"/>
                <a:cs typeface="Times New Roman"/>
              </a:rPr>
              <a:t>, Medium, Oct. 5, 2023. [Online]</a:t>
            </a:r>
            <a:r>
              <a:rPr lang="en-US" sz="2200" dirty="0">
                <a:solidFill>
                  <a:srgbClr val="222222"/>
                </a:solidFill>
                <a:latin typeface="Times New Roman"/>
                <a:cs typeface="Times New Roman"/>
              </a:rPr>
              <a:t> </a:t>
            </a:r>
            <a:endParaRPr lang="en-US" sz="2200" u="sng" dirty="0">
              <a:solidFill>
                <a:srgbClr val="000000"/>
              </a:solidFill>
              <a:latin typeface="Times New Roman"/>
              <a:cs typeface="Times New Roman"/>
            </a:endParaRPr>
          </a:p>
          <a:p>
            <a:pPr algn="just"/>
            <a:endParaRPr lang="en-US" sz="2200">
              <a:solidFill>
                <a:srgbClr val="222222"/>
              </a:solidFill>
              <a:latin typeface="Times New Roman"/>
              <a:cs typeface="Times New Roman"/>
            </a:endParaRPr>
          </a:p>
          <a:p>
            <a:pPr algn="just"/>
            <a:r>
              <a:rPr lang="en-US" sz="2200" dirty="0">
                <a:solidFill>
                  <a:srgbClr val="222222"/>
                </a:solidFill>
                <a:latin typeface="Times New Roman"/>
                <a:cs typeface="Times New Roman"/>
              </a:rPr>
              <a:t>[2] A. </a:t>
            </a:r>
            <a:r>
              <a:rPr lang="en-US" sz="2200" err="1">
                <a:solidFill>
                  <a:srgbClr val="222222"/>
                </a:solidFill>
                <a:latin typeface="Times New Roman"/>
                <a:cs typeface="Times New Roman"/>
              </a:rPr>
              <a:t>Jandera</a:t>
            </a:r>
            <a:r>
              <a:rPr lang="en-US" sz="2200" dirty="0">
                <a:solidFill>
                  <a:srgbClr val="222222"/>
                </a:solidFill>
                <a:latin typeface="Times New Roman"/>
                <a:cs typeface="Times New Roman"/>
              </a:rPr>
              <a:t> and T. </a:t>
            </a:r>
            <a:r>
              <a:rPr lang="en-US" sz="2200" err="1">
                <a:solidFill>
                  <a:srgbClr val="222222"/>
                </a:solidFill>
                <a:latin typeface="Times New Roman"/>
                <a:cs typeface="Times New Roman"/>
              </a:rPr>
              <a:t>Skovranek</a:t>
            </a:r>
            <a:r>
              <a:rPr lang="en-US" sz="2200" dirty="0">
                <a:solidFill>
                  <a:srgbClr val="222222"/>
                </a:solidFill>
                <a:latin typeface="Times New Roman"/>
                <a:cs typeface="Times New Roman"/>
              </a:rPr>
              <a:t>, “Customer </a:t>
            </a:r>
            <a:r>
              <a:rPr lang="en-US" sz="2200" err="1">
                <a:solidFill>
                  <a:srgbClr val="222222"/>
                </a:solidFill>
                <a:latin typeface="Times New Roman"/>
                <a:cs typeface="Times New Roman"/>
              </a:rPr>
              <a:t>behaviour</a:t>
            </a:r>
            <a:r>
              <a:rPr lang="en-US" sz="2200" dirty="0">
                <a:solidFill>
                  <a:srgbClr val="222222"/>
                </a:solidFill>
                <a:latin typeface="Times New Roman"/>
                <a:cs typeface="Times New Roman"/>
              </a:rPr>
              <a:t> Hidden Markov Model,” </a:t>
            </a:r>
            <a:r>
              <a:rPr lang="en-US" sz="2200" i="1" dirty="0">
                <a:solidFill>
                  <a:srgbClr val="222222"/>
                </a:solidFill>
                <a:latin typeface="Times New Roman"/>
                <a:cs typeface="Times New Roman"/>
              </a:rPr>
              <a:t>Mathematics</a:t>
            </a:r>
            <a:r>
              <a:rPr lang="en-US" sz="2200" dirty="0">
                <a:solidFill>
                  <a:srgbClr val="222222"/>
                </a:solidFill>
                <a:latin typeface="Times New Roman"/>
                <a:cs typeface="Times New Roman"/>
              </a:rPr>
              <a:t>, vol. 10, no. 8, art. 1230, 2022, </a:t>
            </a:r>
            <a:r>
              <a:rPr lang="en-US" sz="2200" err="1">
                <a:solidFill>
                  <a:srgbClr val="222222"/>
                </a:solidFill>
                <a:latin typeface="Times New Roman"/>
                <a:cs typeface="Times New Roman"/>
              </a:rPr>
              <a:t>doi</a:t>
            </a:r>
            <a:r>
              <a:rPr lang="en-US" sz="2200" dirty="0">
                <a:solidFill>
                  <a:srgbClr val="222222"/>
                </a:solidFill>
                <a:latin typeface="Times New Roman"/>
                <a:cs typeface="Times New Roman"/>
              </a:rPr>
              <a:t>: 10.3390/math10081230.</a:t>
            </a:r>
            <a:endParaRPr lang="en-US" sz="2200" dirty="0">
              <a:solidFill>
                <a:srgbClr val="000000"/>
              </a:solidFill>
              <a:latin typeface="Times New Roman"/>
              <a:cs typeface="Times New Roman"/>
            </a:endParaRPr>
          </a:p>
          <a:p>
            <a:pPr algn="just"/>
            <a:endParaRPr lang="en-US" sz="2200">
              <a:solidFill>
                <a:srgbClr val="000000"/>
              </a:solidFill>
              <a:latin typeface="Times New Roman"/>
              <a:cs typeface="Times New Roman"/>
            </a:endParaRPr>
          </a:p>
          <a:p>
            <a:pPr algn="just"/>
            <a:r>
              <a:rPr lang="en-US" sz="2200" dirty="0">
                <a:solidFill>
                  <a:srgbClr val="222222"/>
                </a:solidFill>
                <a:latin typeface="Times New Roman"/>
                <a:ea typeface="-apple-system"/>
                <a:cs typeface="Times New Roman"/>
              </a:rPr>
              <a:t>[3] Johansson, D., Takayasu, H. &amp; Takayasu, M. A Markov network approach for reproducing purchase </a:t>
            </a:r>
            <a:r>
              <a:rPr lang="en-US" sz="2200" dirty="0" err="1">
                <a:solidFill>
                  <a:srgbClr val="222222"/>
                </a:solidFill>
                <a:latin typeface="Times New Roman"/>
                <a:ea typeface="-apple-system"/>
                <a:cs typeface="Times New Roman"/>
              </a:rPr>
              <a:t>behaviours</a:t>
            </a:r>
            <a:r>
              <a:rPr lang="en-US" sz="2200" dirty="0">
                <a:solidFill>
                  <a:srgbClr val="222222"/>
                </a:solidFill>
                <a:latin typeface="Times New Roman"/>
                <a:ea typeface="-apple-system"/>
                <a:cs typeface="Times New Roman"/>
              </a:rPr>
              <a:t> observed in convenience stores. </a:t>
            </a:r>
            <a:r>
              <a:rPr lang="en-US" sz="2200" i="1" dirty="0">
                <a:solidFill>
                  <a:srgbClr val="222222"/>
                </a:solidFill>
                <a:latin typeface="Times New Roman"/>
                <a:ea typeface="-apple-system"/>
                <a:cs typeface="Times New Roman"/>
              </a:rPr>
              <a:t>Sci Rep</a:t>
            </a:r>
            <a:r>
              <a:rPr lang="en-US" sz="2200" dirty="0">
                <a:solidFill>
                  <a:srgbClr val="222222"/>
                </a:solidFill>
                <a:latin typeface="Times New Roman"/>
                <a:ea typeface="-apple-system"/>
                <a:cs typeface="Times New Roman"/>
              </a:rPr>
              <a:t> </a:t>
            </a:r>
            <a:r>
              <a:rPr lang="en-US" sz="2200" b="1" dirty="0">
                <a:solidFill>
                  <a:srgbClr val="222222"/>
                </a:solidFill>
                <a:latin typeface="Times New Roman"/>
                <a:ea typeface="-apple-system"/>
                <a:cs typeface="Times New Roman"/>
              </a:rPr>
              <a:t>14</a:t>
            </a:r>
            <a:r>
              <a:rPr lang="en-US" sz="2200" dirty="0">
                <a:solidFill>
                  <a:srgbClr val="222222"/>
                </a:solidFill>
                <a:latin typeface="Times New Roman"/>
                <a:ea typeface="-apple-system"/>
                <a:cs typeface="Times New Roman"/>
              </a:rPr>
              <a:t>, 10487 (2024). </a:t>
            </a:r>
            <a:endParaRPr lang="en-US" sz="2200" dirty="0">
              <a:solidFill>
                <a:srgbClr val="222222"/>
              </a:solidFill>
              <a:latin typeface="Times New Roman"/>
              <a:cs typeface="Times New Roman"/>
            </a:endParaRPr>
          </a:p>
        </p:txBody>
      </p:sp>
    </p:spTree>
    <p:extLst>
      <p:ext uri="{BB962C8B-B14F-4D97-AF65-F5344CB8AC3E}">
        <p14:creationId xmlns:p14="http://schemas.microsoft.com/office/powerpoint/2010/main" val="1919648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25</TotalTime>
  <Words>1610</Words>
  <Application>Microsoft Office PowerPoint</Application>
  <PresentationFormat>Widescreen</PresentationFormat>
  <Paragraphs>175</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Aptos Display</vt:lpstr>
      <vt:lpstr>Arial</vt:lpstr>
      <vt:lpstr>Courier New</vt:lpstr>
      <vt:lpstr>Georgia Pro</vt:lpstr>
      <vt:lpstr>Times New Roman</vt:lpstr>
      <vt:lpstr>office theme</vt:lpstr>
      <vt:lpstr>Customer Behavior Analysis &amp; Simulation with Markov Models</vt:lpstr>
      <vt:lpstr>Introduction</vt:lpstr>
      <vt:lpstr>Problem Statement</vt:lpstr>
      <vt:lpstr>Literature</vt:lpstr>
      <vt:lpstr>PowerPoint Presentation</vt:lpstr>
      <vt:lpstr>PowerPoint Presentation</vt:lpstr>
      <vt:lpstr>Dataset Info</vt:lpstr>
      <vt:lpstr>Flow Chart </vt:lpstr>
      <vt:lpstr>Mathematical Formulation</vt:lpstr>
      <vt:lpstr>PowerPoint Presentation</vt:lpstr>
      <vt:lpstr>Methodology</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Abhishek Pandey</cp:lastModifiedBy>
  <cp:revision>75</cp:revision>
  <dcterms:created xsi:type="dcterms:W3CDTF">2025-08-12T06:39:28Z</dcterms:created>
  <dcterms:modified xsi:type="dcterms:W3CDTF">2025-10-11T08:49:04Z</dcterms:modified>
</cp:coreProperties>
</file>